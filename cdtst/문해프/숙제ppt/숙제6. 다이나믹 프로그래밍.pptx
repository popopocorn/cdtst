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18"/>
  </p:notesMasterIdLst>
  <p:sldIdLst>
    <p:sldId id="258" r:id="rId2"/>
    <p:sldId id="269" r:id="rId3"/>
    <p:sldId id="335" r:id="rId4"/>
    <p:sldId id="259" r:id="rId5"/>
    <p:sldId id="276" r:id="rId6"/>
    <p:sldId id="330" r:id="rId7"/>
    <p:sldId id="331" r:id="rId8"/>
    <p:sldId id="277" r:id="rId9"/>
    <p:sldId id="339" r:id="rId10"/>
    <p:sldId id="341" r:id="rId11"/>
    <p:sldId id="342" r:id="rId12"/>
    <p:sldId id="343" r:id="rId13"/>
    <p:sldId id="344" r:id="rId14"/>
    <p:sldId id="345" r:id="rId15"/>
    <p:sldId id="346" r:id="rId16"/>
    <p:sldId id="347" r:id="rId17"/>
  </p:sldIdLst>
  <p:sldSz cx="9144000" cy="6858000" type="screen4x3"/>
  <p:notesSz cx="6796088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93" autoAdjust="0"/>
    <p:restoredTop sz="94660"/>
  </p:normalViewPr>
  <p:slideViewPr>
    <p:cSldViewPr>
      <p:cViewPr varScale="1">
        <p:scale>
          <a:sx n="114" d="100"/>
          <a:sy n="114" d="100"/>
        </p:scale>
        <p:origin x="1830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4812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755AD21-19C0-49A3-8C7F-3EE70D30FEBF}" type="datetimeFigureOut">
              <a:rPr lang="ko-KR" altLang="en-US"/>
              <a:pPr>
                <a:defRPr/>
              </a:pPr>
              <a:t>2026-04-29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7188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4812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8CEB46D-9B0E-47D1-8684-1DB50B81E07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36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99BD248-42D7-44D8-991C-BF0E4233C8AD}" type="slidenum">
              <a:rPr lang="ko-KR" altLang="en-US"/>
              <a:pPr>
                <a:spcBef>
                  <a:spcPct val="0"/>
                </a:spcBef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CE528-7F58-8114-7800-EFA490682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301D9848-AD40-DF15-D243-28D631A9CD5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091CA6EA-ABB6-24D8-9BAE-97421D8EE25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937960F0-1989-1616-5FDB-55CF6FAE06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3386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8FF79-6E0B-4FCD-4276-D4CAA1B9B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2C6B5741-4F6C-4D1A-EEF6-369E9297ED6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73D3F1C7-091C-1E87-193D-1AF1F221AD6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6F198135-18B5-ED7B-0127-7B81C3306D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3985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20345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11636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00023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98997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AF4A5-5617-2BA3-1998-B43431DBB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67605B-0E30-2C3F-90AB-0349812CBD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6FCDA3-DE81-C79D-7CFA-90D64473B9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E7FB2C-EF50-069C-CDBF-B40305EF9A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42299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D8154-5674-3592-043C-ED5B85D56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196531-8DAF-7C4B-C085-A0F72FDF03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11258C-00BC-693E-9655-C702C0AED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E7B02C-31F7-C577-64B6-706B91BEEA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12291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C5905-9421-8F95-57D2-36A21A955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59D7F44-93D4-55D4-C4B5-E8CB43B065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B5A0B7-CC05-CA92-0DCA-2BC1E44273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DAE5C7-F6D1-7CDC-FB04-7BE88DECBC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91702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D8154-5674-3592-043C-ED5B85D56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196531-8DAF-7C4B-C085-A0F72FDF03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11258C-00BC-693E-9655-C702C0AED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E7B02C-31F7-C577-64B6-706B91BEEA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2278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D8154-5674-3592-043C-ED5B85D56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196531-8DAF-7C4B-C085-A0F72FDF03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11258C-00BC-693E-9655-C702C0AED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E7B02C-31F7-C577-64B6-706B91BEEA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78002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D8154-5674-3592-043C-ED5B85D56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196531-8DAF-7C4B-C085-A0F72FDF03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11258C-00BC-693E-9655-C702C0AED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E7B02C-31F7-C577-64B6-706B91BEEA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73611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D8154-5674-3592-043C-ED5B85D56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196531-8DAF-7C4B-C085-A0F72FDF03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11258C-00BC-693E-9655-C702C0AED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E7B02C-31F7-C577-64B6-706B91BEEA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94837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177CE-0C07-EECB-B702-9A5061952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D2D7CD-178D-4F5E-F957-8EF6A20869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B64418A-FF3E-E05F-7A02-BC1B4B69B3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604D99-5A03-9AEE-6937-76DB63759A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7904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14313" y="6356350"/>
            <a:ext cx="264318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29CDB7A-47E2-4059-8EF4-A0640D1BC94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203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3733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268DA64-E15D-4814-A1DA-86D92D55042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5784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D6C9443-308F-41EB-9403-36E994EE3C1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937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354F6A4-0517-45C2-862F-B475182F438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419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날짜 개체 틀 6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9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666478B-8FBF-4F39-8AAE-C744841EBA9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322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날짜 개체 틀 2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5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E7DB5AE-6182-458A-9442-7D0E5621EC3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2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3" name="날짜 개체 틀 1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4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DF7FABC-72A3-4036-B860-C8EA1438AE6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744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B92AEAB-351F-4F89-A116-7A44E83E55A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6088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3EE7A7B-3993-47B6-A1BC-0275495E6D5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376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72FCFE9-07D1-4516-8BF2-C49BDADA48E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791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C30A18C-D925-420F-814E-C2D3F93C526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378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214313" y="6356350"/>
            <a:ext cx="25717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0749D700-1C6B-4D65-B91E-BEEB48FB19C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7" r:id="rId1"/>
    <p:sldLayoutId id="2147484158" r:id="rId2"/>
    <p:sldLayoutId id="2147484159" r:id="rId3"/>
    <p:sldLayoutId id="2147484160" r:id="rId4"/>
    <p:sldLayoutId id="2147484161" r:id="rId5"/>
    <p:sldLayoutId id="2147484162" r:id="rId6"/>
    <p:sldLayoutId id="2147484163" r:id="rId7"/>
    <p:sldLayoutId id="2147484164" r:id="rId8"/>
    <p:sldLayoutId id="2147484165" r:id="rId9"/>
    <p:sldLayoutId id="2147484166" r:id="rId10"/>
    <p:sldLayoutId id="2147484167" r:id="rId11"/>
  </p:sldLayoutIdLst>
  <p:hf hdr="0" ftr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600" kern="1200">
          <a:solidFill>
            <a:srgbClr val="C00000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chool.programmers.co.kr/learn/courses/30/lessons/43105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hyperlink" Target="https://www.youtube.com/watch?v=EO90NY1ltrg&amp;list=PLg0hsGjqxAUZimgPzzUdTjrV0bn5ALtAl&amp;index=21" TargetMode="External"/><Relationship Id="rId4" Type="http://schemas.openxmlformats.org/officeDocument/2006/relationships/hyperlink" Target="https://www.youtube.com/watch?v=DEyTA-T1B1o&amp;list=PLg0hsGjqxAUZimgPzzUdTjrV0bn5ALtAl&amp;index=3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chool.programmers.co.kr/learn/courses/30/lessons/42898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hyperlink" Target="https://www.youtube.com/watch?v=SYmza_IHs9c&amp;list=PLg0hsGjqxAUZimgPzzUdTjrV0bn5ALtAl&amp;index=22" TargetMode="External"/><Relationship Id="rId4" Type="http://schemas.openxmlformats.org/officeDocument/2006/relationships/hyperlink" Target="https://www.youtube.com/watch?v=UbTRCHdpflA&amp;list=PLg0hsGjqxAUZimgPzzUdTjrV0bn5ALtAl&amp;index=1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ko-KR" altLang="en-US" b="1" dirty="0">
                <a:solidFill>
                  <a:srgbClr val="0000FF"/>
                </a:solidFill>
              </a:rPr>
              <a:t>숙제</a:t>
            </a:r>
            <a:r>
              <a:rPr lang="en-US" altLang="ko-KR" b="1" dirty="0">
                <a:solidFill>
                  <a:srgbClr val="0000FF"/>
                </a:solidFill>
              </a:rPr>
              <a:t>6. </a:t>
            </a:r>
            <a:r>
              <a:rPr lang="ko-KR" altLang="en-US" b="1" dirty="0">
                <a:solidFill>
                  <a:srgbClr val="0000FF"/>
                </a:solidFill>
              </a:rPr>
              <a:t>다이나믹 프로그래밍</a:t>
            </a:r>
            <a:endParaRPr lang="en-US" altLang="ko-KR" b="1" dirty="0">
              <a:solidFill>
                <a:srgbClr val="0000FF"/>
              </a:solidFill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67544" y="3886200"/>
            <a:ext cx="8424936" cy="406896"/>
          </a:xfrm>
        </p:spPr>
        <p:txBody>
          <a:bodyPr/>
          <a:lstStyle/>
          <a:p>
            <a:pPr lvl="1" eaLnBrk="1" hangingPunct="1"/>
            <a:r>
              <a:rPr lang="ko-KR" altLang="en-US" dirty="0">
                <a:solidFill>
                  <a:schemeClr val="tx1"/>
                </a:solidFill>
              </a:rPr>
              <a:t>담당교수 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>
                <a:solidFill>
                  <a:schemeClr val="tx1"/>
                </a:solidFill>
              </a:rPr>
              <a:t>김영식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7E377-6501-AC88-60CF-FFCD8D9C8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149552DC-4336-108F-9F09-35F2F4EDA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7E901156-3666-1D61-B9AB-A579345EDEE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백준 온라인저지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https://www.acmicpc.net/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C570ED1C-A34A-AF1E-D534-A3DA190C18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278458"/>
          </a:xfrm>
        </p:spPr>
        <p:txBody>
          <a:bodyPr/>
          <a:lstStyle/>
          <a:p>
            <a:pPr algn="l"/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백준 온라인저지</a:t>
            </a:r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회원가입하고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문제를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해결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 </a:t>
            </a:r>
            <a:r>
              <a:rPr lang="ko-KR" altLang="en-US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</a:t>
            </a:r>
            <a:r>
              <a:rPr lang="en-US" altLang="ko-KR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“</a:t>
            </a:r>
            <a:r>
              <a:rPr lang="ko-KR" altLang="en-US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맞았습니다</a:t>
            </a:r>
            <a:r>
              <a:rPr lang="en-US" altLang="ko-KR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!!”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스크린 샷 제출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5" y="4725144"/>
            <a:ext cx="8268915" cy="144016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516" y="2223976"/>
            <a:ext cx="4722093" cy="250116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09718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C8DD9-884D-A67C-7FF6-BE2052E40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0900215C-78E8-FFC3-D66F-318826C1B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15DEA275-57E7-EE18-C236-75AE335D57B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sz="2800" b="1" dirty="0" err="1">
                <a:solidFill>
                  <a:srgbClr val="0000FF"/>
                </a:solidFill>
              </a:rPr>
              <a:t>TUKorea</a:t>
            </a:r>
            <a:r>
              <a:rPr lang="ko-KR" altLang="en-US" sz="2800" b="1" dirty="0">
                <a:solidFill>
                  <a:srgbClr val="0000FF"/>
                </a:solidFill>
              </a:rPr>
              <a:t> 온라인저지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http://210.93.60.51/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5E7D3A3B-FF86-CC36-AECA-71BBAFB925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062433"/>
          </a:xfrm>
        </p:spPr>
        <p:txBody>
          <a:bodyPr/>
          <a:lstStyle/>
          <a:p>
            <a:pPr algn="l"/>
            <a:r>
              <a:rPr lang="en-US" altLang="ko-KR" b="0" i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TUKorea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온라인저지는 </a:t>
            </a:r>
            <a:r>
              <a:rPr lang="ko-KR" altLang="en-US" b="1" i="0" dirty="0">
                <a:solidFill>
                  <a:srgbClr val="FF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반드시 학번으로</a:t>
            </a:r>
            <a:r>
              <a:rPr lang="en-US" altLang="ko-KR" b="1" i="0" dirty="0">
                <a:solidFill>
                  <a:srgbClr val="FF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</a:t>
            </a:r>
            <a:r>
              <a:rPr lang="en-US" altLang="ko-KR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Accepted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스크린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샷 제출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FD442A2-9A74-208C-4235-0D0C2DBF9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513" y="2132856"/>
            <a:ext cx="5972973" cy="452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788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/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4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solidFill>
                  <a:srgbClr val="0000FF"/>
                </a:solidFill>
              </a:rPr>
              <a:t>Programmers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https://school.programmers.co.kr/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278458"/>
          </a:xfrm>
        </p:spPr>
        <p:txBody>
          <a:bodyPr/>
          <a:lstStyle/>
          <a:p>
            <a:pPr algn="l"/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Programmers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회원가입하고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문제를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해결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 </a:t>
            </a:r>
            <a:r>
              <a:rPr lang="ko-KR" altLang="en-US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통과</a:t>
            </a:r>
            <a:r>
              <a:rPr lang="en-US" altLang="ko-KR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스크린 샷 제출</a:t>
            </a:r>
            <a:endParaRPr lang="en-US" altLang="ko-KR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757046F-BA5C-9133-150D-0D37D0822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9116" y="2204864"/>
            <a:ext cx="5845767" cy="43784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정수삼각형 </a:t>
            </a:r>
            <a:r>
              <a:rPr lang="en-US" altLang="ko-KR" dirty="0"/>
              <a:t>(Programmers, DP)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/>
          <a:lstStyle/>
          <a:p>
            <a:r>
              <a:rPr lang="en-US" altLang="ko-KR" sz="1600" dirty="0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https://school.programmers.co.kr/learn/courses/30/lessons/43105</a:t>
            </a:r>
            <a:endParaRPr lang="en-US" altLang="ko-KR" sz="1600" dirty="0">
              <a:solidFill>
                <a:srgbClr val="0000FF"/>
              </a:solidFill>
            </a:endParaRPr>
          </a:p>
          <a:p>
            <a:r>
              <a:rPr lang="en-US" altLang="ko-KR" sz="1600" dirty="0">
                <a:solidFill>
                  <a:srgbClr val="0000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https://www.youtube.com/watch?v=DEyTA-T1B1o&amp;list=PLg0hsGjqxAUZimgPzzUdTjrV0bn5ALtAl&amp;index=3</a:t>
            </a:r>
            <a:endParaRPr lang="en-US" altLang="ko-KR" sz="1600" dirty="0">
              <a:solidFill>
                <a:srgbClr val="0000FF"/>
              </a:solidFill>
            </a:endParaRPr>
          </a:p>
          <a:p>
            <a:r>
              <a:rPr lang="en-US" altLang="ko-KR" sz="1600" dirty="0">
                <a:solidFill>
                  <a:srgbClr val="0000FF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https://www.youtube.com/watch?v=EO90NY1ltrg&amp;list=PLg0hsGjqxAUZimgPzzUdTjrV0bn5ALtAl&amp;index=21</a:t>
            </a:r>
            <a:endParaRPr lang="en-US" altLang="ko-KR" sz="1600" dirty="0">
              <a:solidFill>
                <a:srgbClr val="0000FF"/>
              </a:solidFill>
            </a:endParaRPr>
          </a:p>
          <a:p>
            <a:endParaRPr lang="ko-KR" altLang="en-US" sz="20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  <p:pic>
        <p:nvPicPr>
          <p:cNvPr id="1026" name="Picture 2" descr="스크린샷 2018-09-14 오후 5.44.19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1" y="3589449"/>
            <a:ext cx="35052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971600" y="2786898"/>
            <a:ext cx="73448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495060"/>
                </a:solidFill>
                <a:latin typeface="Helvetica Neue"/>
              </a:rPr>
              <a:t>삼각형의 꼭대기에서 바닥까지 이어지는 경로 중</a:t>
            </a:r>
            <a:r>
              <a:rPr lang="en-US" altLang="ko-KR" dirty="0">
                <a:solidFill>
                  <a:srgbClr val="495060"/>
                </a:solidFill>
                <a:latin typeface="Helvetica Neue"/>
              </a:rPr>
              <a:t>, </a:t>
            </a:r>
            <a:r>
              <a:rPr lang="ko-KR" altLang="en-US" dirty="0">
                <a:solidFill>
                  <a:srgbClr val="495060"/>
                </a:solidFill>
                <a:latin typeface="Helvetica Neue"/>
              </a:rPr>
              <a:t>거쳐간 숫자의 합이 가장 큰 경우를 찾아보려고 한다</a:t>
            </a:r>
            <a:r>
              <a:rPr lang="en-US" altLang="ko-KR" dirty="0">
                <a:solidFill>
                  <a:srgbClr val="495060"/>
                </a:solidFill>
                <a:latin typeface="Helvetica Neue"/>
              </a:rPr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6616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정수삼각형 </a:t>
            </a:r>
            <a:r>
              <a:rPr lang="en-US" altLang="ko-KR" dirty="0"/>
              <a:t>(Programmers, DP)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  <p:pic>
        <p:nvPicPr>
          <p:cNvPr id="1026" name="Picture 2" descr="스크린샷 2018-09-14 오후 5.44.19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2546695"/>
            <a:ext cx="35052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76" y="1268760"/>
            <a:ext cx="8058125" cy="9706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574977" y="2816309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FFC000"/>
                </a:solidFill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4977" y="3313905"/>
            <a:ext cx="576064" cy="348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0"/>
              </a:lnSpc>
            </a:pPr>
            <a:r>
              <a:rPr lang="en-US" altLang="ko-KR" sz="2000" b="1" dirty="0">
                <a:solidFill>
                  <a:srgbClr val="FFC000"/>
                </a:solidFill>
              </a:rPr>
              <a:t>.</a:t>
            </a:r>
          </a:p>
          <a:p>
            <a:pPr algn="ctr">
              <a:lnSpc>
                <a:spcPts val="1000"/>
              </a:lnSpc>
            </a:pPr>
            <a:r>
              <a:rPr lang="en-US" altLang="ko-KR" sz="2000" b="1" dirty="0">
                <a:solidFill>
                  <a:srgbClr val="FFC000"/>
                </a:solidFill>
              </a:rPr>
              <a:t>.</a:t>
            </a:r>
          </a:p>
          <a:p>
            <a:pPr algn="ctr">
              <a:lnSpc>
                <a:spcPts val="1000"/>
              </a:lnSpc>
            </a:pPr>
            <a:r>
              <a:rPr lang="en-US" altLang="ko-KR" sz="2000" b="1" dirty="0">
                <a:solidFill>
                  <a:srgbClr val="FFC000"/>
                </a:solidFill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4977" y="3740315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 err="1">
                <a:solidFill>
                  <a:srgbClr val="FFC000"/>
                </a:solidFill>
              </a:rPr>
              <a:t>i</a:t>
            </a:r>
            <a:endParaRPr lang="en-US" altLang="ko-KR" sz="2000" b="1" dirty="0">
              <a:solidFill>
                <a:srgbClr val="FFC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15173" y="4211716"/>
            <a:ext cx="5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FFC000"/>
                </a:solidFill>
              </a:rPr>
              <a:t>i+1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08104" y="4720215"/>
            <a:ext cx="720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FFC000"/>
                </a:solidFill>
              </a:rPr>
              <a:t>L-1</a:t>
            </a:r>
          </a:p>
        </p:txBody>
      </p:sp>
      <p:sp>
        <p:nvSpPr>
          <p:cNvPr id="9" name="자유형 8"/>
          <p:cNvSpPr/>
          <p:nvPr/>
        </p:nvSpPr>
        <p:spPr>
          <a:xfrm>
            <a:off x="3766206" y="3265090"/>
            <a:ext cx="486137" cy="1655180"/>
          </a:xfrm>
          <a:custGeom>
            <a:avLst/>
            <a:gdLst>
              <a:gd name="connsiteX0" fmla="*/ 486137 w 486137"/>
              <a:gd name="connsiteY0" fmla="*/ 0 h 1655180"/>
              <a:gd name="connsiteX1" fmla="*/ 445626 w 486137"/>
              <a:gd name="connsiteY1" fmla="*/ 52086 h 1655180"/>
              <a:gd name="connsiteX2" fmla="*/ 428264 w 486137"/>
              <a:gd name="connsiteY2" fmla="*/ 63661 h 1655180"/>
              <a:gd name="connsiteX3" fmla="*/ 399327 w 486137"/>
              <a:gd name="connsiteY3" fmla="*/ 115747 h 1655180"/>
              <a:gd name="connsiteX4" fmla="*/ 347241 w 486137"/>
              <a:gd name="connsiteY4" fmla="*/ 173621 h 1655180"/>
              <a:gd name="connsiteX5" fmla="*/ 324091 w 486137"/>
              <a:gd name="connsiteY5" fmla="*/ 214132 h 1655180"/>
              <a:gd name="connsiteX6" fmla="*/ 277793 w 486137"/>
              <a:gd name="connsiteY6" fmla="*/ 272005 h 1655180"/>
              <a:gd name="connsiteX7" fmla="*/ 254643 w 486137"/>
              <a:gd name="connsiteY7" fmla="*/ 300942 h 1655180"/>
              <a:gd name="connsiteX8" fmla="*/ 243069 w 486137"/>
              <a:gd name="connsiteY8" fmla="*/ 324091 h 1655180"/>
              <a:gd name="connsiteX9" fmla="*/ 219919 w 486137"/>
              <a:gd name="connsiteY9" fmla="*/ 341454 h 1655180"/>
              <a:gd name="connsiteX10" fmla="*/ 214132 w 486137"/>
              <a:gd name="connsiteY10" fmla="*/ 364603 h 1655180"/>
              <a:gd name="connsiteX11" fmla="*/ 196770 w 486137"/>
              <a:gd name="connsiteY11" fmla="*/ 381965 h 1655180"/>
              <a:gd name="connsiteX12" fmla="*/ 185195 w 486137"/>
              <a:gd name="connsiteY12" fmla="*/ 399327 h 1655180"/>
              <a:gd name="connsiteX13" fmla="*/ 179408 w 486137"/>
              <a:gd name="connsiteY13" fmla="*/ 416689 h 1655180"/>
              <a:gd name="connsiteX14" fmla="*/ 150471 w 486137"/>
              <a:gd name="connsiteY14" fmla="*/ 462988 h 1655180"/>
              <a:gd name="connsiteX15" fmla="*/ 138897 w 486137"/>
              <a:gd name="connsiteY15" fmla="*/ 486137 h 1655180"/>
              <a:gd name="connsiteX16" fmla="*/ 115747 w 486137"/>
              <a:gd name="connsiteY16" fmla="*/ 503499 h 1655180"/>
              <a:gd name="connsiteX17" fmla="*/ 92598 w 486137"/>
              <a:gd name="connsiteY17" fmla="*/ 538223 h 1655180"/>
              <a:gd name="connsiteX18" fmla="*/ 75236 w 486137"/>
              <a:gd name="connsiteY18" fmla="*/ 561372 h 1655180"/>
              <a:gd name="connsiteX19" fmla="*/ 63661 w 486137"/>
              <a:gd name="connsiteY19" fmla="*/ 584522 h 1655180"/>
              <a:gd name="connsiteX20" fmla="*/ 46299 w 486137"/>
              <a:gd name="connsiteY20" fmla="*/ 601884 h 1655180"/>
              <a:gd name="connsiteX21" fmla="*/ 40512 w 486137"/>
              <a:gd name="connsiteY21" fmla="*/ 619246 h 1655180"/>
              <a:gd name="connsiteX22" fmla="*/ 28937 w 486137"/>
              <a:gd name="connsiteY22" fmla="*/ 636608 h 1655180"/>
              <a:gd name="connsiteX23" fmla="*/ 5788 w 486137"/>
              <a:gd name="connsiteY23" fmla="*/ 688694 h 1655180"/>
              <a:gd name="connsiteX24" fmla="*/ 0 w 486137"/>
              <a:gd name="connsiteY24" fmla="*/ 740780 h 1655180"/>
              <a:gd name="connsiteX25" fmla="*/ 5788 w 486137"/>
              <a:gd name="connsiteY25" fmla="*/ 868102 h 1655180"/>
              <a:gd name="connsiteX26" fmla="*/ 28937 w 486137"/>
              <a:gd name="connsiteY26" fmla="*/ 949124 h 1655180"/>
              <a:gd name="connsiteX27" fmla="*/ 57874 w 486137"/>
              <a:gd name="connsiteY27" fmla="*/ 983848 h 1655180"/>
              <a:gd name="connsiteX28" fmla="*/ 92598 w 486137"/>
              <a:gd name="connsiteY28" fmla="*/ 1024360 h 1655180"/>
              <a:gd name="connsiteX29" fmla="*/ 109960 w 486137"/>
              <a:gd name="connsiteY29" fmla="*/ 1035935 h 1655180"/>
              <a:gd name="connsiteX30" fmla="*/ 127322 w 486137"/>
              <a:gd name="connsiteY30" fmla="*/ 1053297 h 1655180"/>
              <a:gd name="connsiteX31" fmla="*/ 150471 w 486137"/>
              <a:gd name="connsiteY31" fmla="*/ 1070659 h 1655180"/>
              <a:gd name="connsiteX32" fmla="*/ 167833 w 486137"/>
              <a:gd name="connsiteY32" fmla="*/ 1082233 h 1655180"/>
              <a:gd name="connsiteX33" fmla="*/ 202557 w 486137"/>
              <a:gd name="connsiteY33" fmla="*/ 1105383 h 1655180"/>
              <a:gd name="connsiteX34" fmla="*/ 214132 w 486137"/>
              <a:gd name="connsiteY34" fmla="*/ 1128532 h 1655180"/>
              <a:gd name="connsiteX35" fmla="*/ 219919 w 486137"/>
              <a:gd name="connsiteY35" fmla="*/ 1151681 h 1655180"/>
              <a:gd name="connsiteX36" fmla="*/ 225707 w 486137"/>
              <a:gd name="connsiteY36" fmla="*/ 1169043 h 1655180"/>
              <a:gd name="connsiteX37" fmla="*/ 231494 w 486137"/>
              <a:gd name="connsiteY37" fmla="*/ 1197980 h 1655180"/>
              <a:gd name="connsiteX38" fmla="*/ 243069 w 486137"/>
              <a:gd name="connsiteY38" fmla="*/ 1273216 h 1655180"/>
              <a:gd name="connsiteX39" fmla="*/ 231494 w 486137"/>
              <a:gd name="connsiteY39" fmla="*/ 1354238 h 1655180"/>
              <a:gd name="connsiteX40" fmla="*/ 219919 w 486137"/>
              <a:gd name="connsiteY40" fmla="*/ 1371600 h 1655180"/>
              <a:gd name="connsiteX41" fmla="*/ 190983 w 486137"/>
              <a:gd name="connsiteY41" fmla="*/ 1423686 h 1655180"/>
              <a:gd name="connsiteX42" fmla="*/ 167833 w 486137"/>
              <a:gd name="connsiteY42" fmla="*/ 1464198 h 1655180"/>
              <a:gd name="connsiteX43" fmla="*/ 150471 w 486137"/>
              <a:gd name="connsiteY43" fmla="*/ 1475772 h 1655180"/>
              <a:gd name="connsiteX44" fmla="*/ 138897 w 486137"/>
              <a:gd name="connsiteY44" fmla="*/ 1498922 h 1655180"/>
              <a:gd name="connsiteX45" fmla="*/ 98385 w 486137"/>
              <a:gd name="connsiteY45" fmla="*/ 1539433 h 1655180"/>
              <a:gd name="connsiteX46" fmla="*/ 75236 w 486137"/>
              <a:gd name="connsiteY46" fmla="*/ 1574157 h 1655180"/>
              <a:gd name="connsiteX47" fmla="*/ 63661 w 486137"/>
              <a:gd name="connsiteY47" fmla="*/ 1591519 h 1655180"/>
              <a:gd name="connsiteX48" fmla="*/ 46299 w 486137"/>
              <a:gd name="connsiteY48" fmla="*/ 1608881 h 1655180"/>
              <a:gd name="connsiteX49" fmla="*/ 23150 w 486137"/>
              <a:gd name="connsiteY49" fmla="*/ 1649393 h 1655180"/>
              <a:gd name="connsiteX50" fmla="*/ 11575 w 486137"/>
              <a:gd name="connsiteY50" fmla="*/ 1655180 h 1655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486137" h="1655180">
                <a:moveTo>
                  <a:pt x="486137" y="0"/>
                </a:moveTo>
                <a:cubicBezTo>
                  <a:pt x="472633" y="17362"/>
                  <a:pt x="460421" y="35811"/>
                  <a:pt x="445626" y="52086"/>
                </a:cubicBezTo>
                <a:cubicBezTo>
                  <a:pt x="440947" y="57233"/>
                  <a:pt x="432791" y="58380"/>
                  <a:pt x="428264" y="63661"/>
                </a:cubicBezTo>
                <a:cubicBezTo>
                  <a:pt x="406693" y="88828"/>
                  <a:pt x="415757" y="91102"/>
                  <a:pt x="399327" y="115747"/>
                </a:cubicBezTo>
                <a:cubicBezTo>
                  <a:pt x="376179" y="150469"/>
                  <a:pt x="375501" y="141324"/>
                  <a:pt x="347241" y="173621"/>
                </a:cubicBezTo>
                <a:cubicBezTo>
                  <a:pt x="325978" y="197921"/>
                  <a:pt x="344857" y="185060"/>
                  <a:pt x="324091" y="214132"/>
                </a:cubicBezTo>
                <a:cubicBezTo>
                  <a:pt x="309732" y="234235"/>
                  <a:pt x="293226" y="252714"/>
                  <a:pt x="277793" y="272005"/>
                </a:cubicBezTo>
                <a:cubicBezTo>
                  <a:pt x="270076" y="281651"/>
                  <a:pt x="260167" y="289893"/>
                  <a:pt x="254643" y="300942"/>
                </a:cubicBezTo>
                <a:cubicBezTo>
                  <a:pt x="250785" y="308658"/>
                  <a:pt x="248683" y="317541"/>
                  <a:pt x="243069" y="324091"/>
                </a:cubicBezTo>
                <a:cubicBezTo>
                  <a:pt x="236792" y="331415"/>
                  <a:pt x="227636" y="335666"/>
                  <a:pt x="219919" y="341454"/>
                </a:cubicBezTo>
                <a:cubicBezTo>
                  <a:pt x="217990" y="349170"/>
                  <a:pt x="218078" y="357697"/>
                  <a:pt x="214132" y="364603"/>
                </a:cubicBezTo>
                <a:cubicBezTo>
                  <a:pt x="210071" y="371709"/>
                  <a:pt x="202010" y="375678"/>
                  <a:pt x="196770" y="381965"/>
                </a:cubicBezTo>
                <a:cubicBezTo>
                  <a:pt x="192317" y="387308"/>
                  <a:pt x="189053" y="393540"/>
                  <a:pt x="185195" y="399327"/>
                </a:cubicBezTo>
                <a:cubicBezTo>
                  <a:pt x="183266" y="405114"/>
                  <a:pt x="182136" y="411233"/>
                  <a:pt x="179408" y="416689"/>
                </a:cubicBezTo>
                <a:cubicBezTo>
                  <a:pt x="157574" y="460358"/>
                  <a:pt x="168838" y="430845"/>
                  <a:pt x="150471" y="462988"/>
                </a:cubicBezTo>
                <a:cubicBezTo>
                  <a:pt x="146191" y="470478"/>
                  <a:pt x="144511" y="479587"/>
                  <a:pt x="138897" y="486137"/>
                </a:cubicBezTo>
                <a:cubicBezTo>
                  <a:pt x="132620" y="493461"/>
                  <a:pt x="122155" y="496290"/>
                  <a:pt x="115747" y="503499"/>
                </a:cubicBezTo>
                <a:cubicBezTo>
                  <a:pt x="106505" y="513896"/>
                  <a:pt x="100945" y="527094"/>
                  <a:pt x="92598" y="538223"/>
                </a:cubicBezTo>
                <a:cubicBezTo>
                  <a:pt x="86811" y="545939"/>
                  <a:pt x="80348" y="553193"/>
                  <a:pt x="75236" y="561372"/>
                </a:cubicBezTo>
                <a:cubicBezTo>
                  <a:pt x="70663" y="568688"/>
                  <a:pt x="68676" y="577502"/>
                  <a:pt x="63661" y="584522"/>
                </a:cubicBezTo>
                <a:cubicBezTo>
                  <a:pt x="58904" y="591182"/>
                  <a:pt x="52086" y="596097"/>
                  <a:pt x="46299" y="601884"/>
                </a:cubicBezTo>
                <a:cubicBezTo>
                  <a:pt x="44370" y="607671"/>
                  <a:pt x="43240" y="613790"/>
                  <a:pt x="40512" y="619246"/>
                </a:cubicBezTo>
                <a:cubicBezTo>
                  <a:pt x="37401" y="625467"/>
                  <a:pt x="31762" y="630252"/>
                  <a:pt x="28937" y="636608"/>
                </a:cubicBezTo>
                <a:cubicBezTo>
                  <a:pt x="1386" y="698597"/>
                  <a:pt x="31983" y="649399"/>
                  <a:pt x="5788" y="688694"/>
                </a:cubicBezTo>
                <a:cubicBezTo>
                  <a:pt x="3859" y="706056"/>
                  <a:pt x="0" y="723311"/>
                  <a:pt x="0" y="740780"/>
                </a:cubicBezTo>
                <a:cubicBezTo>
                  <a:pt x="0" y="783264"/>
                  <a:pt x="1561" y="825828"/>
                  <a:pt x="5788" y="868102"/>
                </a:cubicBezTo>
                <a:cubicBezTo>
                  <a:pt x="6242" y="872644"/>
                  <a:pt x="23130" y="940413"/>
                  <a:pt x="28937" y="949124"/>
                </a:cubicBezTo>
                <a:cubicBezTo>
                  <a:pt x="54522" y="987501"/>
                  <a:pt x="24450" y="944853"/>
                  <a:pt x="57874" y="983848"/>
                </a:cubicBezTo>
                <a:cubicBezTo>
                  <a:pt x="77035" y="1006203"/>
                  <a:pt x="71056" y="1006408"/>
                  <a:pt x="92598" y="1024360"/>
                </a:cubicBezTo>
                <a:cubicBezTo>
                  <a:pt x="97941" y="1028813"/>
                  <a:pt x="104617" y="1031482"/>
                  <a:pt x="109960" y="1035935"/>
                </a:cubicBezTo>
                <a:cubicBezTo>
                  <a:pt x="116247" y="1041175"/>
                  <a:pt x="121108" y="1047971"/>
                  <a:pt x="127322" y="1053297"/>
                </a:cubicBezTo>
                <a:cubicBezTo>
                  <a:pt x="134645" y="1059574"/>
                  <a:pt x="142622" y="1065053"/>
                  <a:pt x="150471" y="1070659"/>
                </a:cubicBezTo>
                <a:cubicBezTo>
                  <a:pt x="156131" y="1074702"/>
                  <a:pt x="162490" y="1077780"/>
                  <a:pt x="167833" y="1082233"/>
                </a:cubicBezTo>
                <a:cubicBezTo>
                  <a:pt x="196736" y="1106318"/>
                  <a:pt x="172044" y="1095211"/>
                  <a:pt x="202557" y="1105383"/>
                </a:cubicBezTo>
                <a:cubicBezTo>
                  <a:pt x="206415" y="1113099"/>
                  <a:pt x="211103" y="1120454"/>
                  <a:pt x="214132" y="1128532"/>
                </a:cubicBezTo>
                <a:cubicBezTo>
                  <a:pt x="216925" y="1135979"/>
                  <a:pt x="217734" y="1144033"/>
                  <a:pt x="219919" y="1151681"/>
                </a:cubicBezTo>
                <a:cubicBezTo>
                  <a:pt x="221595" y="1157547"/>
                  <a:pt x="224227" y="1163125"/>
                  <a:pt x="225707" y="1169043"/>
                </a:cubicBezTo>
                <a:cubicBezTo>
                  <a:pt x="228093" y="1178586"/>
                  <a:pt x="229734" y="1188302"/>
                  <a:pt x="231494" y="1197980"/>
                </a:cubicBezTo>
                <a:cubicBezTo>
                  <a:pt x="236845" y="1227413"/>
                  <a:pt x="238735" y="1242880"/>
                  <a:pt x="243069" y="1273216"/>
                </a:cubicBezTo>
                <a:cubicBezTo>
                  <a:pt x="242224" y="1280820"/>
                  <a:pt x="237312" y="1338724"/>
                  <a:pt x="231494" y="1354238"/>
                </a:cubicBezTo>
                <a:cubicBezTo>
                  <a:pt x="229052" y="1360751"/>
                  <a:pt x="223777" y="1365813"/>
                  <a:pt x="219919" y="1371600"/>
                </a:cubicBezTo>
                <a:cubicBezTo>
                  <a:pt x="209525" y="1423573"/>
                  <a:pt x="223824" y="1379897"/>
                  <a:pt x="190983" y="1423686"/>
                </a:cubicBezTo>
                <a:cubicBezTo>
                  <a:pt x="177366" y="1441842"/>
                  <a:pt x="183332" y="1448699"/>
                  <a:pt x="167833" y="1464198"/>
                </a:cubicBezTo>
                <a:cubicBezTo>
                  <a:pt x="162915" y="1469116"/>
                  <a:pt x="156258" y="1471914"/>
                  <a:pt x="150471" y="1475772"/>
                </a:cubicBezTo>
                <a:cubicBezTo>
                  <a:pt x="146613" y="1483489"/>
                  <a:pt x="144360" y="1492245"/>
                  <a:pt x="138897" y="1498922"/>
                </a:cubicBezTo>
                <a:cubicBezTo>
                  <a:pt x="126804" y="1513703"/>
                  <a:pt x="108978" y="1523543"/>
                  <a:pt x="98385" y="1539433"/>
                </a:cubicBezTo>
                <a:lnTo>
                  <a:pt x="75236" y="1574157"/>
                </a:lnTo>
                <a:cubicBezTo>
                  <a:pt x="71378" y="1579944"/>
                  <a:pt x="68579" y="1586601"/>
                  <a:pt x="63661" y="1591519"/>
                </a:cubicBezTo>
                <a:cubicBezTo>
                  <a:pt x="57874" y="1597306"/>
                  <a:pt x="51056" y="1602221"/>
                  <a:pt x="46299" y="1608881"/>
                </a:cubicBezTo>
                <a:cubicBezTo>
                  <a:pt x="34955" y="1624762"/>
                  <a:pt x="36815" y="1635728"/>
                  <a:pt x="23150" y="1649393"/>
                </a:cubicBezTo>
                <a:cubicBezTo>
                  <a:pt x="20100" y="1652443"/>
                  <a:pt x="15433" y="1653251"/>
                  <a:pt x="11575" y="1655180"/>
                </a:cubicBezTo>
              </a:path>
            </a:pathLst>
          </a:custGeom>
          <a:noFill/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C000"/>
              </a:solidFill>
            </a:endParaRPr>
          </a:p>
        </p:txBody>
      </p:sp>
      <p:sp>
        <p:nvSpPr>
          <p:cNvPr id="3" name="이등변 삼각형 2"/>
          <p:cNvSpPr/>
          <p:nvPr/>
        </p:nvSpPr>
        <p:spPr>
          <a:xfrm>
            <a:off x="2555776" y="2636912"/>
            <a:ext cx="3312368" cy="2520280"/>
          </a:xfrm>
          <a:prstGeom prst="triangl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이등변 삼각형 13"/>
          <p:cNvSpPr/>
          <p:nvPr/>
        </p:nvSpPr>
        <p:spPr>
          <a:xfrm>
            <a:off x="2699792" y="3265090"/>
            <a:ext cx="2376264" cy="1818132"/>
          </a:xfrm>
          <a:prstGeom prst="triangl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이등변 삼각형 14"/>
          <p:cNvSpPr/>
          <p:nvPr/>
        </p:nvSpPr>
        <p:spPr>
          <a:xfrm>
            <a:off x="3347864" y="3297596"/>
            <a:ext cx="2376264" cy="1818132"/>
          </a:xfrm>
          <a:prstGeom prst="triangl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6933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등굣길</a:t>
            </a:r>
            <a:r>
              <a:rPr lang="en-US" altLang="ko-KR" dirty="0"/>
              <a:t>(Programmers, DP)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/>
          <a:lstStyle/>
          <a:p>
            <a:r>
              <a:rPr lang="en-US" altLang="ko-KR" sz="1600" dirty="0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https://school.programmers.co.kr/learn/courses/30/lessons/42898</a:t>
            </a:r>
            <a:endParaRPr lang="en-US" altLang="ko-KR" sz="1600" dirty="0">
              <a:solidFill>
                <a:srgbClr val="0000FF"/>
              </a:solidFill>
            </a:endParaRPr>
          </a:p>
          <a:p>
            <a:r>
              <a:rPr lang="en-US" altLang="ko-KR" sz="1600" dirty="0">
                <a:solidFill>
                  <a:srgbClr val="0000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https://www.youtube.com/watch?v=UbTRCHdpflA&amp;list=PLg0hsGjqxAUZimgPzzUdTjrV0bn5ALtAl&amp;index=1</a:t>
            </a:r>
            <a:endParaRPr lang="en-US" altLang="ko-KR" sz="1600" dirty="0">
              <a:solidFill>
                <a:srgbClr val="0000FF"/>
              </a:solidFill>
            </a:endParaRPr>
          </a:p>
          <a:p>
            <a:r>
              <a:rPr lang="en-US" altLang="ko-KR" sz="1600" dirty="0">
                <a:solidFill>
                  <a:srgbClr val="0000FF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https://www.youtube.com/watch?v=SYmza_IHs9c&amp;list=PLg0hsGjqxAUZimgPzzUdTjrV0bn5ALtAl&amp;index=22</a:t>
            </a:r>
            <a:endParaRPr lang="en-US" altLang="ko-KR" sz="1600" dirty="0">
              <a:solidFill>
                <a:srgbClr val="0000FF"/>
              </a:solidFill>
            </a:endParaRPr>
          </a:p>
          <a:p>
            <a:endParaRPr lang="en-US" altLang="ko-KR" sz="1600" dirty="0"/>
          </a:p>
          <a:p>
            <a:endParaRPr lang="ko-KR" altLang="en-US" sz="16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755576" y="5590981"/>
            <a:ext cx="73448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계속되는 폭우로 일부 지역이 물에 잠겼습니다</a:t>
            </a:r>
            <a:r>
              <a:rPr lang="en-US" altLang="ko-KR" dirty="0"/>
              <a:t>. </a:t>
            </a:r>
            <a:r>
              <a:rPr lang="ko-KR" altLang="en-US" dirty="0"/>
              <a:t>물에 잠기지 않은 지역을 통해 학교를 가려고 합니다</a:t>
            </a:r>
            <a:r>
              <a:rPr lang="en-US" altLang="ko-KR" dirty="0"/>
              <a:t>. 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8380" y="2913524"/>
            <a:ext cx="3002221" cy="2314295"/>
          </a:xfrm>
          <a:prstGeom prst="rect">
            <a:avLst/>
          </a:prstGeom>
        </p:spPr>
      </p:pic>
      <p:pic>
        <p:nvPicPr>
          <p:cNvPr id="1026" name="Picture 2" descr="image1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2913524"/>
            <a:ext cx="3052458" cy="2306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0092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등굣길</a:t>
            </a:r>
            <a:r>
              <a:rPr lang="en-US" altLang="ko-KR" dirty="0"/>
              <a:t>(Programmers, DP)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8</a:t>
            </a:fld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1065804" y="5206124"/>
            <a:ext cx="73448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계속되는 폭우로 일부 지역이 물에 잠겼습니다</a:t>
            </a:r>
            <a:r>
              <a:rPr lang="en-US" altLang="ko-KR" dirty="0"/>
              <a:t>. </a:t>
            </a:r>
            <a:r>
              <a:rPr lang="ko-KR" altLang="en-US" dirty="0"/>
              <a:t>물에 잠기지 않은 지역을 통해 학교를 가려고 합니다</a:t>
            </a:r>
            <a:r>
              <a:rPr lang="en-US" altLang="ko-KR" dirty="0"/>
              <a:t>. 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380" y="2420888"/>
            <a:ext cx="3002221" cy="2314295"/>
          </a:xfrm>
          <a:prstGeom prst="rect">
            <a:avLst/>
          </a:prstGeom>
        </p:spPr>
      </p:pic>
      <p:pic>
        <p:nvPicPr>
          <p:cNvPr id="1026" name="Picture 2" descr="image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2420888"/>
            <a:ext cx="3052458" cy="2306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476" y="1178827"/>
            <a:ext cx="7279016" cy="9361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51520" y="2507893"/>
            <a:ext cx="9413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rgbClr val="0000FF"/>
                </a:solidFill>
              </a:rPr>
              <a:t>(0,0)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01061" y="4702229"/>
            <a:ext cx="18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rgbClr val="0000FF"/>
                </a:solidFill>
              </a:rPr>
              <a:t>(m-1,n-1)</a:t>
            </a:r>
          </a:p>
        </p:txBody>
      </p:sp>
    </p:spTree>
    <p:extLst>
      <p:ext uri="{BB962C8B-B14F-4D97-AF65-F5344CB8AC3E}">
        <p14:creationId xmlns:p14="http://schemas.microsoft.com/office/powerpoint/2010/main" val="1106719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BDCB5-7F53-214B-6C61-C92019CB9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EFEF50-ACBE-B55A-3CD9-ECD0968B9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3. </a:t>
            </a:r>
            <a:r>
              <a:rPr lang="ko-KR" altLang="en-US" sz="2800" dirty="0"/>
              <a:t>베스트 앨범 </a:t>
            </a:r>
            <a:r>
              <a:rPr lang="fr-FR" altLang="ko-KR" sz="2800" dirty="0"/>
              <a:t>(Programmers, </a:t>
            </a:r>
            <a:r>
              <a:rPr lang="ko-KR" altLang="en-US" sz="2800" dirty="0"/>
              <a:t>구현</a:t>
            </a:r>
            <a:r>
              <a:rPr lang="fr-FR" altLang="ko-KR" sz="2800" dirty="0"/>
              <a:t>) </a:t>
            </a:r>
            <a:br>
              <a:rPr lang="fr-FR" altLang="ko-KR" sz="2800" dirty="0"/>
            </a:br>
            <a:r>
              <a:rPr lang="fr-FR" altLang="ko-KR" sz="2000" dirty="0"/>
              <a:t>https://school.programmers.co.kr/learn/courses/30/lessons/42579</a:t>
            </a:r>
            <a:endParaRPr lang="ko-KR" altLang="en-US" sz="2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ABA8CA-B1A0-8B3D-CAB9-27BB454F4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장르 별로 가장 많이 재생된 노래를 두 개씩 모아 베스트 앨범을 출시하려 합니다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노래는 고유 번호로 구분하며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노래를 수록하는 기준은 다음과 같습니다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속한 노래가 많이 재생된 장르를 먼저 수록합니다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장르 내에서 많이 재생된 노래를 먼저 수록합니다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장르 내에서 재생 횟수가 같은 노래 중에서는 고유 번호가 낮은 노래를 먼저 수록합니다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2000" dirty="0"/>
              <a:t>장르에 속한 곡이 하나라면</a:t>
            </a:r>
            <a:r>
              <a:rPr lang="en-US" altLang="ko-KR" sz="2000" dirty="0"/>
              <a:t>, </a:t>
            </a:r>
            <a:r>
              <a:rPr lang="ko-KR" altLang="en-US" sz="2000" dirty="0"/>
              <a:t>하나의 곡만 선택합니다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45AAE8-FF1A-38EE-FB83-8DBB91949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14F4C0D-968A-79CF-8CAD-DC1110870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259" y="4365104"/>
            <a:ext cx="7884368" cy="1373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540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82D6-7C3A-1450-0957-073622899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C0AAC-B616-D4EC-909C-ECC3F2A8B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4. </a:t>
            </a:r>
            <a:r>
              <a:rPr lang="ko-KR" altLang="en-US" sz="2800" dirty="0" err="1"/>
              <a:t>신고결과받기</a:t>
            </a:r>
            <a:r>
              <a:rPr lang="ko-KR" altLang="en-US" sz="2800" dirty="0"/>
              <a:t> </a:t>
            </a:r>
            <a:r>
              <a:rPr lang="en-US" altLang="ko-KR" sz="2800" dirty="0"/>
              <a:t>(Programmers, </a:t>
            </a:r>
            <a:r>
              <a:rPr lang="ko-KR" altLang="en-US" sz="2800" dirty="0"/>
              <a:t>구현</a:t>
            </a:r>
            <a:r>
              <a:rPr lang="en-US" altLang="ko-KR" sz="2800" dirty="0"/>
              <a:t>) </a:t>
            </a:r>
            <a:br>
              <a:rPr lang="en-US" altLang="ko-KR" sz="2800" dirty="0"/>
            </a:br>
            <a:r>
              <a:rPr lang="en-US" altLang="ko-KR" sz="2000" dirty="0"/>
              <a:t>https://school.programmers.co.kr/learn/courses/30/lessons/92334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099AAD-C6EA-CB4B-F77E-8434C7D5E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10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8C86E8-5349-F7B3-AFB6-B10A83FC0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각 유저는 한 번에 한 명의 유저를 신고할 수 있습니다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신고 횟수에 제한은 없다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서로 다른 유저를 계속해서 신고할 수 있습니다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한 유저를 여러 번 신고할 수도 있지만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동일한 유저에 대한 신고 횟수는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회로 처리됩니다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k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번 이상 신고된 유저는 게시판 이용이 정지되며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해당 유저를 신고한 모든 유저에게 정지 사실을 메일로 발송합니다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유저가 신고한 모든 내용을 취합하여 마지막에 한꺼번에 게시판 이용 정지를 시키면서 정지 메일을 발송합니다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88214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B2B20-4B16-B621-1878-D805E7073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DA739D-B2C9-7045-1763-959F8AD67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4. </a:t>
            </a:r>
            <a:r>
              <a:rPr lang="ko-KR" altLang="en-US" sz="2800" dirty="0" err="1"/>
              <a:t>신고결과받기</a:t>
            </a:r>
            <a:r>
              <a:rPr lang="ko-KR" altLang="en-US" sz="2800" dirty="0"/>
              <a:t> </a:t>
            </a:r>
            <a:r>
              <a:rPr lang="en-US" altLang="ko-KR" sz="2800" dirty="0"/>
              <a:t>(Programmers, </a:t>
            </a:r>
            <a:r>
              <a:rPr lang="ko-KR" altLang="en-US" sz="2800" dirty="0"/>
              <a:t>구현</a:t>
            </a:r>
            <a:r>
              <a:rPr lang="en-US" altLang="ko-KR" sz="2800" dirty="0"/>
              <a:t>) </a:t>
            </a:r>
            <a:br>
              <a:rPr lang="en-US" altLang="ko-KR" sz="2800" dirty="0"/>
            </a:br>
            <a:r>
              <a:rPr lang="en-US" altLang="ko-KR" sz="2000" dirty="0"/>
              <a:t>https://school.programmers.co.kr/learn/courses/30/lessons/92334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672360B-F912-2D91-961D-82AA60C5A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11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7422AF-D135-5DEC-B715-D2D68C5B44DF}"/>
              </a:ext>
            </a:extLst>
          </p:cNvPr>
          <p:cNvSpPr txBox="1"/>
          <p:nvPr/>
        </p:nvSpPr>
        <p:spPr>
          <a:xfrm>
            <a:off x="539552" y="1172404"/>
            <a:ext cx="8064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다음은 전체 유저 목록이 </a:t>
            </a:r>
            <a:r>
              <a:rPr lang="en-US" altLang="ko-KR" dirty="0"/>
              <a:t>["</a:t>
            </a:r>
            <a:r>
              <a:rPr lang="en-US" altLang="ko-KR" dirty="0" err="1"/>
              <a:t>muzi</a:t>
            </a:r>
            <a:r>
              <a:rPr lang="en-US" altLang="ko-KR" dirty="0"/>
              <a:t>", "</a:t>
            </a:r>
            <a:r>
              <a:rPr lang="en-US" altLang="ko-KR" dirty="0" err="1"/>
              <a:t>frodo</a:t>
            </a:r>
            <a:r>
              <a:rPr lang="en-US" altLang="ko-KR" dirty="0"/>
              <a:t>", "</a:t>
            </a:r>
            <a:r>
              <a:rPr lang="en-US" altLang="ko-KR" dirty="0" err="1"/>
              <a:t>apeach</a:t>
            </a:r>
            <a:r>
              <a:rPr lang="en-US" altLang="ko-KR" dirty="0"/>
              <a:t>", "neo"]</a:t>
            </a:r>
            <a:r>
              <a:rPr lang="ko-KR" altLang="en-US" dirty="0"/>
              <a:t>이고</a:t>
            </a:r>
            <a:r>
              <a:rPr lang="en-US" altLang="ko-KR" dirty="0"/>
              <a:t>, k = 2 (</a:t>
            </a:r>
            <a:r>
              <a:rPr lang="ko-KR" altLang="en-US" dirty="0"/>
              <a:t>즉</a:t>
            </a:r>
            <a:r>
              <a:rPr lang="en-US" altLang="ko-KR" dirty="0"/>
              <a:t>, 2</a:t>
            </a:r>
            <a:r>
              <a:rPr lang="ko-KR" altLang="en-US" dirty="0"/>
              <a:t>번 이상 신고 당하면 이용 정지</a:t>
            </a:r>
            <a:r>
              <a:rPr lang="en-US" altLang="ko-KR" dirty="0"/>
              <a:t>)</a:t>
            </a:r>
            <a:r>
              <a:rPr lang="ko-KR" altLang="en-US" dirty="0"/>
              <a:t>인 경우의 예시입니다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6C0E967-254F-2353-E033-7331025E8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1848155"/>
            <a:ext cx="4708574" cy="40783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AD9180E-4305-4D57-1938-1188050C7C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7784" y="4473614"/>
            <a:ext cx="6238490" cy="2039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5923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82D6-7C3A-1450-0957-073622899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C0AAC-B616-D4EC-909C-ECC3F2A8B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5. </a:t>
            </a:r>
            <a:r>
              <a:rPr lang="ko-KR" altLang="en-US" sz="2800" dirty="0"/>
              <a:t>설탕배달 </a:t>
            </a:r>
            <a:r>
              <a:rPr lang="en-US" altLang="ko-KR" sz="2800" dirty="0"/>
              <a:t>(</a:t>
            </a:r>
            <a:r>
              <a:rPr lang="en-US" altLang="ko-KR" sz="2800" dirty="0" err="1"/>
              <a:t>TUKorea</a:t>
            </a:r>
            <a:r>
              <a:rPr lang="en-US" altLang="ko-KR" sz="2800" dirty="0"/>
              <a:t>, </a:t>
            </a:r>
            <a:r>
              <a:rPr lang="ko-KR" altLang="en-US" sz="2800" dirty="0"/>
              <a:t>백준</a:t>
            </a:r>
            <a:r>
              <a:rPr lang="en-US" altLang="ko-KR" sz="2800" dirty="0"/>
              <a:t>2839, DP) </a:t>
            </a:r>
            <a:br>
              <a:rPr lang="en-US" altLang="ko-KR" sz="2800" dirty="0"/>
            </a:br>
            <a:r>
              <a:rPr lang="en-US" altLang="ko-KR" sz="2000" dirty="0"/>
              <a:t>http://210.93.60.51/problem/0182</a:t>
            </a:r>
            <a:br>
              <a:rPr lang="en-US" altLang="ko-KR" sz="2000" dirty="0"/>
            </a:br>
            <a:r>
              <a:rPr lang="en-US" altLang="ko-KR" sz="2000" dirty="0"/>
              <a:t>https://www.acmicpc.net/problem/2839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099AAD-C6EA-CB4B-F77E-8434C7D5E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12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8C86E8-5349-F7B3-AFB6-B10A83FC0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설탕을 정확하게 </a:t>
            </a:r>
            <a:r>
              <a:rPr lang="en-US" altLang="ko-KR" sz="1800" b="1" dirty="0">
                <a:latin typeface="Open Sans" panose="020F0502020204030204" pitchFamily="34" charset="0"/>
              </a:rPr>
              <a:t>N</a:t>
            </a:r>
            <a:r>
              <a:rPr lang="ko-KR" altLang="en-US" sz="1800" b="1" dirty="0">
                <a:latin typeface="Open Sans" panose="020F0502020204030204" pitchFamily="34" charset="0"/>
              </a:rPr>
              <a:t>킬로그램을 배달해야 한다</a:t>
            </a:r>
            <a:r>
              <a:rPr lang="en-US" altLang="ko-KR" sz="1800" b="1" dirty="0">
                <a:latin typeface="Open Sans" panose="020F0502020204030204" pitchFamily="34" charset="0"/>
              </a:rPr>
              <a:t>. </a:t>
            </a:r>
            <a:r>
              <a:rPr lang="ko-KR" altLang="en-US" sz="1800" dirty="0">
                <a:latin typeface="Open Sans" panose="020F0502020204030204" pitchFamily="34" charset="0"/>
              </a:rPr>
              <a:t>설탕공장에서 만드는 설탕은 봉지에 담겨져 있다</a:t>
            </a:r>
            <a:r>
              <a:rPr lang="en-US" altLang="ko-KR" sz="1800" dirty="0">
                <a:latin typeface="Open Sans" panose="020F0502020204030204" pitchFamily="34" charset="0"/>
              </a:rPr>
              <a:t>. </a:t>
            </a:r>
            <a:r>
              <a:rPr lang="ko-KR" altLang="en-US" sz="1800" dirty="0">
                <a:latin typeface="Open Sans" panose="020F0502020204030204" pitchFamily="34" charset="0"/>
              </a:rPr>
              <a:t>봉지는 </a:t>
            </a:r>
            <a:r>
              <a:rPr lang="en-US" altLang="ko-KR" sz="1800" b="1" dirty="0">
                <a:latin typeface="Open Sans" panose="020F0502020204030204" pitchFamily="34" charset="0"/>
              </a:rPr>
              <a:t>3</a:t>
            </a:r>
            <a:r>
              <a:rPr lang="ko-KR" altLang="en-US" sz="1800" b="1" dirty="0">
                <a:latin typeface="Open Sans" panose="020F0502020204030204" pitchFamily="34" charset="0"/>
              </a:rPr>
              <a:t>킬로그램 봉지와 </a:t>
            </a:r>
            <a:r>
              <a:rPr lang="en-US" altLang="ko-KR" sz="1800" b="1" dirty="0">
                <a:latin typeface="Open Sans" panose="020F0502020204030204" pitchFamily="34" charset="0"/>
              </a:rPr>
              <a:t>5</a:t>
            </a:r>
            <a:r>
              <a:rPr lang="ko-KR" altLang="en-US" sz="1800" b="1" dirty="0">
                <a:latin typeface="Open Sans" panose="020F0502020204030204" pitchFamily="34" charset="0"/>
              </a:rPr>
              <a:t>킬로그램 봉지</a:t>
            </a:r>
            <a:r>
              <a:rPr lang="ko-KR" altLang="en-US" sz="1800" dirty="0">
                <a:latin typeface="Open Sans" panose="020F0502020204030204" pitchFamily="34" charset="0"/>
              </a:rPr>
              <a:t>가 있다</a:t>
            </a:r>
            <a:r>
              <a:rPr lang="en-US" altLang="ko-KR" sz="1800" dirty="0"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dirty="0">
              <a:latin typeface="Open Sans" panose="020F0502020204030204" pitchFamily="34" charset="0"/>
            </a:endParaRPr>
          </a:p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상근이는 귀찮기 때문에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ko-KR" altLang="en-US" sz="1800" b="1" dirty="0">
                <a:latin typeface="Open Sans" panose="020F0502020204030204" pitchFamily="34" charset="0"/>
              </a:rPr>
              <a:t>최대한 적은 봉지를 들고 가려고 한다</a:t>
            </a:r>
            <a:r>
              <a:rPr lang="en-US" altLang="ko-KR" sz="1800" b="1" dirty="0">
                <a:latin typeface="Open Sans" panose="020F0502020204030204" pitchFamily="34" charset="0"/>
              </a:rPr>
              <a:t>. </a:t>
            </a:r>
            <a:r>
              <a:rPr lang="ko-KR" altLang="en-US" sz="1800" dirty="0">
                <a:latin typeface="Open Sans" panose="020F0502020204030204" pitchFamily="34" charset="0"/>
              </a:rPr>
              <a:t>예를 들어</a:t>
            </a:r>
            <a:r>
              <a:rPr lang="en-US" altLang="ko-KR" sz="1800" dirty="0">
                <a:latin typeface="Open Sans" panose="020F0502020204030204" pitchFamily="34" charset="0"/>
              </a:rPr>
              <a:t>, 18</a:t>
            </a:r>
            <a:r>
              <a:rPr lang="ko-KR" altLang="en-US" sz="1800" dirty="0">
                <a:latin typeface="Open Sans" panose="020F0502020204030204" pitchFamily="34" charset="0"/>
              </a:rPr>
              <a:t>킬로그램 설탕을 배달해야 할 때</a:t>
            </a:r>
            <a:r>
              <a:rPr lang="en-US" altLang="ko-KR" sz="1800" dirty="0">
                <a:latin typeface="Open Sans" panose="020F0502020204030204" pitchFamily="34" charset="0"/>
              </a:rPr>
              <a:t>, 3</a:t>
            </a:r>
            <a:r>
              <a:rPr lang="ko-KR" altLang="en-US" sz="1800" dirty="0">
                <a:latin typeface="Open Sans" panose="020F0502020204030204" pitchFamily="34" charset="0"/>
              </a:rPr>
              <a:t>킬로그램 봉지 </a:t>
            </a:r>
            <a:r>
              <a:rPr lang="en-US" altLang="ko-KR" sz="1800" dirty="0">
                <a:latin typeface="Open Sans" panose="020F0502020204030204" pitchFamily="34" charset="0"/>
              </a:rPr>
              <a:t>6</a:t>
            </a:r>
            <a:r>
              <a:rPr lang="ko-KR" altLang="en-US" sz="1800" dirty="0">
                <a:latin typeface="Open Sans" panose="020F0502020204030204" pitchFamily="34" charset="0"/>
              </a:rPr>
              <a:t>개를 가져가도 되지만</a:t>
            </a:r>
            <a:r>
              <a:rPr lang="en-US" altLang="ko-KR" sz="1800" dirty="0">
                <a:latin typeface="Open Sans" panose="020F0502020204030204" pitchFamily="34" charset="0"/>
              </a:rPr>
              <a:t>, 5</a:t>
            </a:r>
            <a:r>
              <a:rPr lang="ko-KR" altLang="en-US" sz="1800" dirty="0">
                <a:latin typeface="Open Sans" panose="020F0502020204030204" pitchFamily="34" charset="0"/>
              </a:rPr>
              <a:t>킬로그램 </a:t>
            </a:r>
            <a:r>
              <a:rPr lang="en-US" altLang="ko-KR" sz="1800" dirty="0">
                <a:latin typeface="Open Sans" panose="020F0502020204030204" pitchFamily="34" charset="0"/>
              </a:rPr>
              <a:t>3</a:t>
            </a:r>
            <a:r>
              <a:rPr lang="ko-KR" altLang="en-US" sz="1800" dirty="0">
                <a:latin typeface="Open Sans" panose="020F0502020204030204" pitchFamily="34" charset="0"/>
              </a:rPr>
              <a:t>개와 </a:t>
            </a:r>
            <a:r>
              <a:rPr lang="en-US" altLang="ko-KR" sz="1800" dirty="0">
                <a:latin typeface="Open Sans" panose="020F0502020204030204" pitchFamily="34" charset="0"/>
              </a:rPr>
              <a:t>3</a:t>
            </a:r>
            <a:r>
              <a:rPr lang="ko-KR" altLang="en-US" sz="1800" dirty="0">
                <a:latin typeface="Open Sans" panose="020F0502020204030204" pitchFamily="34" charset="0"/>
              </a:rPr>
              <a:t>킬로그램 </a:t>
            </a:r>
            <a:r>
              <a:rPr lang="en-US" altLang="ko-KR" sz="1800" dirty="0">
                <a:latin typeface="Open Sans" panose="020F0502020204030204" pitchFamily="34" charset="0"/>
              </a:rPr>
              <a:t>1</a:t>
            </a:r>
            <a:r>
              <a:rPr lang="ko-KR" altLang="en-US" sz="1800" dirty="0">
                <a:latin typeface="Open Sans" panose="020F0502020204030204" pitchFamily="34" charset="0"/>
              </a:rPr>
              <a:t>개를 배달하면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ko-KR" altLang="en-US" sz="1800" dirty="0">
                <a:latin typeface="Open Sans" panose="020F0502020204030204" pitchFamily="34" charset="0"/>
              </a:rPr>
              <a:t>더 적은 개수의 봉지를 배달할 수 있다</a:t>
            </a:r>
            <a:r>
              <a:rPr lang="en-US" altLang="ko-KR" sz="1800" dirty="0"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dirty="0">
              <a:latin typeface="Open Sans" panose="020F0502020204030204" pitchFamily="34" charset="0"/>
            </a:endParaRPr>
          </a:p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상근이가 설탕을 정확하게 </a:t>
            </a:r>
            <a:r>
              <a:rPr lang="en-US" altLang="ko-KR" sz="1800" b="1" dirty="0">
                <a:latin typeface="Open Sans" panose="020F0502020204030204" pitchFamily="34" charset="0"/>
              </a:rPr>
              <a:t>N</a:t>
            </a:r>
            <a:r>
              <a:rPr lang="ko-KR" altLang="en-US" sz="1800" b="1" dirty="0">
                <a:latin typeface="Open Sans" panose="020F0502020204030204" pitchFamily="34" charset="0"/>
              </a:rPr>
              <a:t>킬로그램 배달해야 할 때</a:t>
            </a:r>
            <a:r>
              <a:rPr lang="en-US" altLang="ko-KR" sz="1800" b="1" dirty="0">
                <a:latin typeface="Open Sans" panose="020F0502020204030204" pitchFamily="34" charset="0"/>
              </a:rPr>
              <a:t>, </a:t>
            </a:r>
            <a:r>
              <a:rPr lang="ko-KR" altLang="en-US" sz="1800" b="1" dirty="0">
                <a:latin typeface="Open Sans" panose="020F0502020204030204" pitchFamily="34" charset="0"/>
              </a:rPr>
              <a:t>봉지 몇 개를 가져가면 되는지 그 수를 구하는 프로그램을 작성하시오</a:t>
            </a:r>
            <a:r>
              <a:rPr lang="en-US" altLang="ko-KR" sz="1800" b="1" dirty="0">
                <a:latin typeface="Open Sans" panose="020F0502020204030204" pitchFamily="34" charset="0"/>
              </a:rPr>
              <a:t>.</a:t>
            </a:r>
            <a:endParaRPr lang="en-US" altLang="ko-KR" sz="1800" b="1" i="0" dirty="0">
              <a:effectLst/>
              <a:latin typeface="Open Sans" panose="020F0502020204030204" pitchFamily="34" charset="0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37" y="4885528"/>
            <a:ext cx="7861126" cy="143841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51026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82D6-7C3A-1450-0957-073622899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C0AAC-B616-D4EC-909C-ECC3F2A8B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6. 1</a:t>
            </a:r>
            <a:r>
              <a:rPr lang="ko-KR" altLang="en-US" sz="2800" dirty="0"/>
              <a:t>로 만들기 </a:t>
            </a:r>
            <a:r>
              <a:rPr lang="en-US" altLang="ko-KR" sz="2800" dirty="0"/>
              <a:t>(</a:t>
            </a:r>
            <a:r>
              <a:rPr lang="en-US" altLang="ko-KR" sz="2800" dirty="0" err="1"/>
              <a:t>TUKorea</a:t>
            </a:r>
            <a:r>
              <a:rPr lang="en-US" altLang="ko-KR" sz="2800" dirty="0"/>
              <a:t>, </a:t>
            </a:r>
            <a:r>
              <a:rPr lang="ko-KR" altLang="en-US" sz="2800" dirty="0"/>
              <a:t>백준</a:t>
            </a:r>
            <a:r>
              <a:rPr lang="en-US" altLang="ko-KR" sz="2800" dirty="0"/>
              <a:t>1463, DP) </a:t>
            </a:r>
            <a:br>
              <a:rPr lang="en-US" altLang="ko-KR" sz="2800" dirty="0"/>
            </a:br>
            <a:r>
              <a:rPr lang="en-US" altLang="ko-KR" sz="2000" dirty="0"/>
              <a:t>http://210.93.60.51/problem/0183</a:t>
            </a:r>
            <a:br>
              <a:rPr lang="en-US" altLang="ko-KR" sz="2000" dirty="0"/>
            </a:br>
            <a:r>
              <a:rPr lang="en-US" altLang="ko-KR" sz="2000" dirty="0"/>
              <a:t>https://www.acmicpc.net/problem/1463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099AAD-C6EA-CB4B-F77E-8434C7D5E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13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8C86E8-5349-F7B3-AFB6-B10A83FC0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정수 </a:t>
            </a:r>
            <a:r>
              <a:rPr lang="en-US" altLang="ko-KR" sz="1800" dirty="0">
                <a:latin typeface="Open Sans" panose="020F0502020204030204" pitchFamily="34" charset="0"/>
              </a:rPr>
              <a:t>X</a:t>
            </a:r>
            <a:r>
              <a:rPr lang="ko-KR" altLang="en-US" sz="1800" dirty="0">
                <a:latin typeface="Open Sans" panose="020F0502020204030204" pitchFamily="34" charset="0"/>
              </a:rPr>
              <a:t>에 사용할 수 있는 연산은 다음과 같이 세 가지 이다</a:t>
            </a:r>
            <a:r>
              <a:rPr lang="en-US" altLang="ko-KR" sz="1800" dirty="0"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dirty="0">
              <a:latin typeface="Open Sans" panose="020F0502020204030204" pitchFamily="34" charset="0"/>
            </a:endParaRPr>
          </a:p>
          <a:p>
            <a:pPr algn="just"/>
            <a:r>
              <a:rPr lang="en-US" altLang="ko-KR" sz="1800" b="1" dirty="0">
                <a:latin typeface="Open Sans" panose="020F0502020204030204" pitchFamily="34" charset="0"/>
              </a:rPr>
              <a:t>X</a:t>
            </a:r>
            <a:r>
              <a:rPr lang="ko-KR" altLang="en-US" sz="1800" b="1" dirty="0">
                <a:latin typeface="Open Sans" panose="020F0502020204030204" pitchFamily="34" charset="0"/>
              </a:rPr>
              <a:t>가 </a:t>
            </a:r>
            <a:r>
              <a:rPr lang="en-US" altLang="ko-KR" sz="1800" b="1" dirty="0">
                <a:latin typeface="Open Sans" panose="020F0502020204030204" pitchFamily="34" charset="0"/>
              </a:rPr>
              <a:t>3</a:t>
            </a:r>
            <a:r>
              <a:rPr lang="ko-KR" altLang="en-US" sz="1800" b="1" dirty="0">
                <a:latin typeface="Open Sans" panose="020F0502020204030204" pitchFamily="34" charset="0"/>
              </a:rPr>
              <a:t>으로 나누어 떨어지면</a:t>
            </a:r>
            <a:r>
              <a:rPr lang="en-US" altLang="ko-KR" sz="1800" b="1" dirty="0">
                <a:latin typeface="Open Sans" panose="020F0502020204030204" pitchFamily="34" charset="0"/>
              </a:rPr>
              <a:t>, 3</a:t>
            </a:r>
            <a:r>
              <a:rPr lang="ko-KR" altLang="en-US" sz="1800" b="1" dirty="0">
                <a:latin typeface="Open Sans" panose="020F0502020204030204" pitchFamily="34" charset="0"/>
              </a:rPr>
              <a:t>으로 나눈다</a:t>
            </a:r>
            <a:r>
              <a:rPr lang="en-US" altLang="ko-KR" sz="1800" b="1" dirty="0"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en-US" altLang="ko-KR" sz="1800" b="1" dirty="0">
                <a:latin typeface="Open Sans" panose="020F0502020204030204" pitchFamily="34" charset="0"/>
              </a:rPr>
              <a:t>X</a:t>
            </a:r>
            <a:r>
              <a:rPr lang="ko-KR" altLang="en-US" sz="1800" b="1" dirty="0">
                <a:latin typeface="Open Sans" panose="020F0502020204030204" pitchFamily="34" charset="0"/>
              </a:rPr>
              <a:t>가 </a:t>
            </a:r>
            <a:r>
              <a:rPr lang="en-US" altLang="ko-KR" sz="1800" b="1" dirty="0">
                <a:latin typeface="Open Sans" panose="020F0502020204030204" pitchFamily="34" charset="0"/>
              </a:rPr>
              <a:t>2</a:t>
            </a:r>
            <a:r>
              <a:rPr lang="ko-KR" altLang="en-US" sz="1800" b="1" dirty="0">
                <a:latin typeface="Open Sans" panose="020F0502020204030204" pitchFamily="34" charset="0"/>
              </a:rPr>
              <a:t>로 나누어 떨어지면</a:t>
            </a:r>
            <a:r>
              <a:rPr lang="en-US" altLang="ko-KR" sz="1800" b="1" dirty="0">
                <a:latin typeface="Open Sans" panose="020F0502020204030204" pitchFamily="34" charset="0"/>
              </a:rPr>
              <a:t>, 2</a:t>
            </a:r>
            <a:r>
              <a:rPr lang="ko-KR" altLang="en-US" sz="1800" b="1" dirty="0">
                <a:latin typeface="Open Sans" panose="020F0502020204030204" pitchFamily="34" charset="0"/>
              </a:rPr>
              <a:t>로 나눈다</a:t>
            </a:r>
            <a:r>
              <a:rPr lang="en-US" altLang="ko-KR" sz="1800" b="1" dirty="0"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en-US" altLang="ko-KR" sz="1800" b="1" dirty="0">
                <a:latin typeface="Open Sans" panose="020F0502020204030204" pitchFamily="34" charset="0"/>
              </a:rPr>
              <a:t>1</a:t>
            </a:r>
            <a:r>
              <a:rPr lang="ko-KR" altLang="en-US" sz="1800" b="1" dirty="0">
                <a:latin typeface="Open Sans" panose="020F0502020204030204" pitchFamily="34" charset="0"/>
              </a:rPr>
              <a:t>을 뺀다</a:t>
            </a:r>
            <a:r>
              <a:rPr lang="en-US" altLang="ko-KR" sz="1800" b="1" dirty="0"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b="1" dirty="0">
              <a:latin typeface="Open Sans" panose="020F0502020204030204" pitchFamily="34" charset="0"/>
            </a:endParaRPr>
          </a:p>
          <a:p>
            <a:pPr algn="just"/>
            <a:r>
              <a:rPr lang="ko-KR" altLang="en-US" sz="1800" b="1" dirty="0">
                <a:latin typeface="Open Sans" panose="020F0502020204030204" pitchFamily="34" charset="0"/>
              </a:rPr>
              <a:t>정수 </a:t>
            </a:r>
            <a:r>
              <a:rPr lang="en-US" altLang="ko-KR" sz="1800" b="1" dirty="0">
                <a:latin typeface="Open Sans" panose="020F0502020204030204" pitchFamily="34" charset="0"/>
              </a:rPr>
              <a:t>N</a:t>
            </a:r>
            <a:r>
              <a:rPr lang="ko-KR" altLang="en-US" sz="1800" b="1" dirty="0">
                <a:latin typeface="Open Sans" panose="020F0502020204030204" pitchFamily="34" charset="0"/>
              </a:rPr>
              <a:t>이 주어졌을 때</a:t>
            </a:r>
            <a:r>
              <a:rPr lang="en-US" altLang="ko-KR" sz="1800" b="1" dirty="0">
                <a:latin typeface="Open Sans" panose="020F0502020204030204" pitchFamily="34" charset="0"/>
              </a:rPr>
              <a:t>, </a:t>
            </a:r>
            <a:r>
              <a:rPr lang="ko-KR" altLang="en-US" sz="1800" dirty="0">
                <a:latin typeface="Open Sans" panose="020F0502020204030204" pitchFamily="34" charset="0"/>
              </a:rPr>
              <a:t>위와 같은 연산 세 개를 적절히 사용해서 </a:t>
            </a:r>
            <a:r>
              <a:rPr lang="en-US" altLang="ko-KR" sz="1800" dirty="0">
                <a:latin typeface="Open Sans" panose="020F0502020204030204" pitchFamily="34" charset="0"/>
              </a:rPr>
              <a:t>1</a:t>
            </a:r>
            <a:r>
              <a:rPr lang="ko-KR" altLang="en-US" sz="1800" dirty="0">
                <a:latin typeface="Open Sans" panose="020F0502020204030204" pitchFamily="34" charset="0"/>
              </a:rPr>
              <a:t>을 만들려고 한다</a:t>
            </a:r>
            <a:r>
              <a:rPr lang="en-US" altLang="ko-KR" sz="1800" dirty="0">
                <a:latin typeface="Open Sans" panose="020F0502020204030204" pitchFamily="34" charset="0"/>
              </a:rPr>
              <a:t>. </a:t>
            </a:r>
            <a:r>
              <a:rPr lang="ko-KR" altLang="en-US" sz="1800" b="1" dirty="0">
                <a:latin typeface="Open Sans" panose="020F0502020204030204" pitchFamily="34" charset="0"/>
              </a:rPr>
              <a:t>연산을 사용하는 횟수의 최솟값을 </a:t>
            </a:r>
            <a:r>
              <a:rPr lang="ko-KR" altLang="en-US" sz="1800" b="1" dirty="0" err="1">
                <a:latin typeface="Open Sans" panose="020F0502020204030204" pitchFamily="34" charset="0"/>
              </a:rPr>
              <a:t>출력하시오</a:t>
            </a:r>
            <a:r>
              <a:rPr lang="en-US" altLang="ko-KR" sz="1800" b="1" dirty="0">
                <a:latin typeface="Open Sans" panose="020F0502020204030204" pitchFamily="34" charset="0"/>
              </a:rPr>
              <a:t>.</a:t>
            </a:r>
            <a:endParaRPr lang="en-US" altLang="ko-KR" sz="1800" b="1" i="0" dirty="0">
              <a:effectLst/>
              <a:latin typeface="Open Sans" panose="020F0502020204030204" pitchFamily="34" charset="0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133" y="4437112"/>
            <a:ext cx="8014667" cy="134428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794435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82D6-7C3A-1450-0957-073622899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C0AAC-B616-D4EC-909C-ECC3F2A8B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7. </a:t>
            </a:r>
            <a:r>
              <a:rPr lang="ko-KR" altLang="en-US" sz="2800" dirty="0"/>
              <a:t>내려가기 </a:t>
            </a:r>
            <a:r>
              <a:rPr lang="en-US" altLang="ko-KR" sz="2800" dirty="0"/>
              <a:t>(</a:t>
            </a:r>
            <a:r>
              <a:rPr lang="en-US" altLang="ko-KR" sz="2800" dirty="0" err="1"/>
              <a:t>TUKorea</a:t>
            </a:r>
            <a:r>
              <a:rPr lang="en-US" altLang="ko-KR" sz="2800" dirty="0"/>
              <a:t>, </a:t>
            </a:r>
            <a:r>
              <a:rPr lang="ko-KR" altLang="en-US" sz="2800" dirty="0"/>
              <a:t>백준</a:t>
            </a:r>
            <a:r>
              <a:rPr lang="en-US" altLang="ko-KR" sz="2800" dirty="0"/>
              <a:t>2096, DP) </a:t>
            </a:r>
            <a:br>
              <a:rPr lang="en-US" altLang="ko-KR" sz="2800" dirty="0"/>
            </a:br>
            <a:r>
              <a:rPr lang="en-US" altLang="ko-KR" sz="2000" dirty="0"/>
              <a:t>http://210.93.60.51/problem/0184</a:t>
            </a:r>
            <a:br>
              <a:rPr lang="en-US" altLang="ko-KR" sz="2000" dirty="0"/>
            </a:br>
            <a:r>
              <a:rPr lang="en-US" altLang="ko-KR" sz="2000" dirty="0"/>
              <a:t>https://www.acmicpc.net/problem/2096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099AAD-C6EA-CB4B-F77E-8434C7D5E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14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8C86E8-5349-F7B3-AFB6-B10A83FC0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en-US" altLang="ko-KR" sz="1800" b="1" dirty="0">
                <a:latin typeface="Open Sans" panose="020F0502020204030204" pitchFamily="34" charset="0"/>
              </a:rPr>
              <a:t>N</a:t>
            </a:r>
            <a:r>
              <a:rPr lang="ko-KR" altLang="en-US" sz="1800" b="1" dirty="0">
                <a:latin typeface="Open Sans" panose="020F0502020204030204" pitchFamily="34" charset="0"/>
              </a:rPr>
              <a:t>줄에 </a:t>
            </a:r>
            <a:r>
              <a:rPr lang="en-US" altLang="ko-KR" sz="1800" b="1" dirty="0">
                <a:latin typeface="Open Sans" panose="020F0502020204030204" pitchFamily="34" charset="0"/>
              </a:rPr>
              <a:t>0 </a:t>
            </a:r>
            <a:r>
              <a:rPr lang="ko-KR" altLang="en-US" sz="1800" b="1" dirty="0">
                <a:latin typeface="Open Sans" panose="020F0502020204030204" pitchFamily="34" charset="0"/>
              </a:rPr>
              <a:t>이상 </a:t>
            </a:r>
            <a:r>
              <a:rPr lang="en-US" altLang="ko-KR" sz="1800" b="1" dirty="0">
                <a:latin typeface="Open Sans" panose="020F0502020204030204" pitchFamily="34" charset="0"/>
              </a:rPr>
              <a:t>9 </a:t>
            </a:r>
            <a:r>
              <a:rPr lang="ko-KR" altLang="en-US" sz="1800" b="1" dirty="0">
                <a:latin typeface="Open Sans" panose="020F0502020204030204" pitchFamily="34" charset="0"/>
              </a:rPr>
              <a:t>이하의 숫자가 세 개씩 적혀 있다</a:t>
            </a:r>
            <a:r>
              <a:rPr lang="en-US" altLang="ko-KR" sz="1800" b="1" dirty="0">
                <a:latin typeface="Open Sans" panose="020F0502020204030204" pitchFamily="34" charset="0"/>
              </a:rPr>
              <a:t>. </a:t>
            </a:r>
            <a:r>
              <a:rPr lang="ko-KR" altLang="en-US" sz="1800" dirty="0">
                <a:latin typeface="Open Sans" panose="020F0502020204030204" pitchFamily="34" charset="0"/>
              </a:rPr>
              <a:t>내려가기 게임을 하고 있는데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ko-KR" altLang="en-US" sz="1800" dirty="0">
                <a:latin typeface="Open Sans" panose="020F0502020204030204" pitchFamily="34" charset="0"/>
              </a:rPr>
              <a:t>이 게임은 </a:t>
            </a:r>
            <a:r>
              <a:rPr lang="ko-KR" altLang="en-US" sz="1800" b="1" dirty="0">
                <a:latin typeface="Open Sans" panose="020F0502020204030204" pitchFamily="34" charset="0"/>
              </a:rPr>
              <a:t>첫 줄에서 시작해서 마지막 줄에서 끝나게 되는 놀이이다</a:t>
            </a:r>
            <a:r>
              <a:rPr lang="en-US" altLang="ko-KR" sz="1800" dirty="0"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dirty="0">
              <a:latin typeface="Open Sans" panose="020F0502020204030204" pitchFamily="34" charset="0"/>
            </a:endParaRPr>
          </a:p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먼저 처음에 적혀 있는 세 개의 숫자 중에서 하나를 골라서 시작하게 된다</a:t>
            </a:r>
            <a:r>
              <a:rPr lang="en-US" altLang="ko-KR" sz="1800" dirty="0">
                <a:latin typeface="Open Sans" panose="020F0502020204030204" pitchFamily="34" charset="0"/>
              </a:rPr>
              <a:t>.  </a:t>
            </a:r>
            <a:r>
              <a:rPr lang="ko-KR" altLang="en-US" sz="1800" dirty="0">
                <a:latin typeface="Open Sans" panose="020F0502020204030204" pitchFamily="34" charset="0"/>
              </a:rPr>
              <a:t>다음 줄로 내려갈 때에는 </a:t>
            </a:r>
            <a:r>
              <a:rPr lang="ko-KR" altLang="en-US" sz="1800" b="1" dirty="0">
                <a:latin typeface="Open Sans" panose="020F0502020204030204" pitchFamily="34" charset="0"/>
              </a:rPr>
              <a:t>다음과 같은 제약 조건이 있다</a:t>
            </a:r>
            <a:r>
              <a:rPr lang="en-US" altLang="ko-KR" sz="1800" b="1" dirty="0"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b="1" dirty="0">
              <a:latin typeface="Open Sans" panose="020F0502020204030204" pitchFamily="34" charset="0"/>
            </a:endParaRPr>
          </a:p>
          <a:p>
            <a:pPr algn="just"/>
            <a:endParaRPr lang="en-US" altLang="ko-KR" sz="1800" b="1" dirty="0">
              <a:latin typeface="Open Sans" panose="020F0502020204030204" pitchFamily="34" charset="0"/>
            </a:endParaRPr>
          </a:p>
          <a:p>
            <a:pPr algn="just"/>
            <a:endParaRPr lang="en-US" altLang="ko-KR" sz="1800" b="1" dirty="0">
              <a:latin typeface="Open Sans" panose="020F0502020204030204" pitchFamily="34" charset="0"/>
            </a:endParaRPr>
          </a:p>
          <a:p>
            <a:pPr algn="just"/>
            <a:endParaRPr lang="en-US" altLang="ko-KR" sz="1800" b="1" dirty="0">
              <a:latin typeface="Open Sans" panose="020F0502020204030204" pitchFamily="34" charset="0"/>
            </a:endParaRPr>
          </a:p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별표는 현재 위치이고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ko-KR" altLang="en-US" sz="1800" dirty="0">
                <a:latin typeface="Open Sans" panose="020F0502020204030204" pitchFamily="34" charset="0"/>
              </a:rPr>
              <a:t>그 </a:t>
            </a:r>
            <a:r>
              <a:rPr lang="ko-KR" altLang="en-US" sz="1800" dirty="0" err="1">
                <a:latin typeface="Open Sans" panose="020F0502020204030204" pitchFamily="34" charset="0"/>
              </a:rPr>
              <a:t>아랫</a:t>
            </a:r>
            <a:r>
              <a:rPr lang="ko-KR" altLang="en-US" sz="1800" dirty="0">
                <a:latin typeface="Open Sans" panose="020F0502020204030204" pitchFamily="34" charset="0"/>
              </a:rPr>
              <a:t> 줄의 </a:t>
            </a:r>
            <a:r>
              <a:rPr lang="ko-KR" altLang="en-US" sz="1800" b="1" dirty="0">
                <a:latin typeface="Open Sans" panose="020F0502020204030204" pitchFamily="34" charset="0"/>
              </a:rPr>
              <a:t>파란 동그라미는 </a:t>
            </a:r>
            <a:r>
              <a:rPr lang="ko-KR" altLang="en-US" sz="1800" b="1" dirty="0" err="1">
                <a:latin typeface="Open Sans" panose="020F0502020204030204" pitchFamily="34" charset="0"/>
              </a:rPr>
              <a:t>원룡이가</a:t>
            </a:r>
            <a:r>
              <a:rPr lang="ko-KR" altLang="en-US" sz="1800" b="1" dirty="0">
                <a:latin typeface="Open Sans" panose="020F0502020204030204" pitchFamily="34" charset="0"/>
              </a:rPr>
              <a:t> 다음 줄로 내려갈 수 있는 위치이며</a:t>
            </a:r>
            <a:r>
              <a:rPr lang="en-US" altLang="ko-KR" sz="1800" b="1" dirty="0">
                <a:latin typeface="Open Sans" panose="020F0502020204030204" pitchFamily="34" charset="0"/>
              </a:rPr>
              <a:t>, </a:t>
            </a:r>
            <a:r>
              <a:rPr lang="ko-KR" altLang="en-US" sz="1800" b="1" dirty="0">
                <a:latin typeface="Open Sans" panose="020F0502020204030204" pitchFamily="34" charset="0"/>
              </a:rPr>
              <a:t>빨간 </a:t>
            </a:r>
            <a:r>
              <a:rPr lang="ko-KR" altLang="en-US" sz="1800" b="1" dirty="0" err="1">
                <a:latin typeface="Open Sans" panose="020F0502020204030204" pitchFamily="34" charset="0"/>
              </a:rPr>
              <a:t>가위표는</a:t>
            </a:r>
            <a:r>
              <a:rPr lang="ko-KR" altLang="en-US" sz="1800" b="1" dirty="0">
                <a:latin typeface="Open Sans" panose="020F0502020204030204" pitchFamily="34" charset="0"/>
              </a:rPr>
              <a:t> </a:t>
            </a:r>
            <a:r>
              <a:rPr lang="ko-KR" altLang="en-US" sz="1800" b="1" dirty="0" err="1">
                <a:latin typeface="Open Sans" panose="020F0502020204030204" pitchFamily="34" charset="0"/>
              </a:rPr>
              <a:t>원룡이가</a:t>
            </a:r>
            <a:r>
              <a:rPr lang="ko-KR" altLang="en-US" sz="1800" b="1" dirty="0">
                <a:latin typeface="Open Sans" panose="020F0502020204030204" pitchFamily="34" charset="0"/>
              </a:rPr>
              <a:t> 내려갈 수 없는 위치가 </a:t>
            </a:r>
            <a:r>
              <a:rPr lang="ko-KR" altLang="en-US" sz="1800" dirty="0">
                <a:latin typeface="Open Sans" panose="020F0502020204030204" pitchFamily="34" charset="0"/>
              </a:rPr>
              <a:t>된다</a:t>
            </a:r>
            <a:r>
              <a:rPr lang="en-US" altLang="ko-KR" sz="1800" dirty="0">
                <a:latin typeface="Open Sans" panose="020F0502020204030204" pitchFamily="34" charset="0"/>
              </a:rPr>
              <a:t>. </a:t>
            </a:r>
          </a:p>
          <a:p>
            <a:pPr algn="just"/>
            <a:endParaRPr lang="en-US" altLang="ko-KR" sz="1800" dirty="0">
              <a:latin typeface="Open Sans" panose="020F0502020204030204" pitchFamily="34" charset="0"/>
            </a:endParaRPr>
          </a:p>
          <a:p>
            <a:pPr algn="just"/>
            <a:r>
              <a:rPr lang="ko-KR" altLang="en-US" sz="1800" dirty="0" err="1">
                <a:latin typeface="Open Sans" panose="020F0502020204030204" pitchFamily="34" charset="0"/>
              </a:rPr>
              <a:t>숫자표가</a:t>
            </a:r>
            <a:r>
              <a:rPr lang="ko-KR" altLang="en-US" sz="1800" dirty="0">
                <a:latin typeface="Open Sans" panose="020F0502020204030204" pitchFamily="34" charset="0"/>
              </a:rPr>
              <a:t> 주어져 있을 때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ko-KR" altLang="en-US" sz="1800" dirty="0">
                <a:latin typeface="Open Sans" panose="020F0502020204030204" pitchFamily="34" charset="0"/>
              </a:rPr>
              <a:t>얻을 수 있는 </a:t>
            </a:r>
            <a:r>
              <a:rPr lang="ko-KR" altLang="en-US" sz="1800" b="1" dirty="0">
                <a:latin typeface="Open Sans" panose="020F0502020204030204" pitchFamily="34" charset="0"/>
              </a:rPr>
              <a:t>최대 점수</a:t>
            </a:r>
            <a:r>
              <a:rPr lang="en-US" altLang="ko-KR" sz="1800" b="1" dirty="0">
                <a:latin typeface="Open Sans" panose="020F0502020204030204" pitchFamily="34" charset="0"/>
              </a:rPr>
              <a:t>, </a:t>
            </a:r>
            <a:r>
              <a:rPr lang="ko-KR" altLang="en-US" sz="1800" b="1" dirty="0">
                <a:latin typeface="Open Sans" panose="020F0502020204030204" pitchFamily="34" charset="0"/>
              </a:rPr>
              <a:t>최소 점수를 구하는 프로그램을 작성하시오</a:t>
            </a:r>
            <a:r>
              <a:rPr lang="en-US" altLang="ko-KR" sz="1800" b="1" dirty="0">
                <a:latin typeface="Open Sans" panose="020F0502020204030204" pitchFamily="34" charset="0"/>
              </a:rPr>
              <a:t>.</a:t>
            </a:r>
            <a:endParaRPr lang="en-US" altLang="ko-KR" sz="1800" b="1" i="0" dirty="0">
              <a:effectLst/>
              <a:latin typeface="Open Sans" panose="020F0502020204030204" pitchFamily="34" charset="0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" y="2881312"/>
            <a:ext cx="8039100" cy="109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906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82D6-7C3A-1450-0957-073622899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C0AAC-B616-D4EC-909C-ECC3F2A8B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868346"/>
          </a:xfrm>
        </p:spPr>
        <p:txBody>
          <a:bodyPr/>
          <a:lstStyle/>
          <a:p>
            <a:r>
              <a:rPr lang="en-US" altLang="ko-KR" sz="2800" dirty="0"/>
              <a:t>8. </a:t>
            </a:r>
            <a:r>
              <a:rPr lang="ko-KR" altLang="en-US" sz="2800" dirty="0"/>
              <a:t>가장 큰 증가하는 부분 수열 </a:t>
            </a:r>
            <a:r>
              <a:rPr lang="en-US" altLang="ko-KR" sz="2800" dirty="0"/>
              <a:t>(</a:t>
            </a:r>
            <a:r>
              <a:rPr lang="en-US" altLang="ko-KR" sz="2800" dirty="0" err="1"/>
              <a:t>TUKorea</a:t>
            </a:r>
            <a:r>
              <a:rPr lang="en-US" altLang="ko-KR" sz="2800" dirty="0"/>
              <a:t>,</a:t>
            </a:r>
            <a:r>
              <a:rPr lang="ko-KR" altLang="en-US" sz="2800" dirty="0"/>
              <a:t>백준</a:t>
            </a:r>
            <a:r>
              <a:rPr lang="en-US" altLang="ko-KR" sz="2800" dirty="0"/>
              <a:t>11055,DP)</a:t>
            </a:r>
            <a:r>
              <a:rPr lang="en-US" altLang="ko-KR" sz="2400" dirty="0"/>
              <a:t> </a:t>
            </a:r>
            <a:br>
              <a:rPr lang="en-US" altLang="ko-KR" sz="2400" dirty="0"/>
            </a:br>
            <a:r>
              <a:rPr lang="en-US" altLang="ko-KR" sz="1800" dirty="0"/>
              <a:t>http://210.93.60.51/problem/0185</a:t>
            </a:r>
            <a:br>
              <a:rPr lang="en-US" altLang="ko-KR" sz="1800" dirty="0"/>
            </a:br>
            <a:r>
              <a:rPr lang="en-US" altLang="ko-KR" sz="1800" dirty="0"/>
              <a:t>https://www.acmicpc.net/problem/11055</a:t>
            </a:r>
            <a:endParaRPr lang="ko-KR" altLang="en-US" sz="18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099AAD-C6EA-CB4B-F77E-8434C7D5E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15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8C86E8-5349-F7B3-AFB6-B10A83FC0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수열 </a:t>
            </a:r>
            <a:r>
              <a:rPr lang="en-US" altLang="ko-KR" sz="1800" dirty="0">
                <a:latin typeface="Open Sans" panose="020F0502020204030204" pitchFamily="34" charset="0"/>
              </a:rPr>
              <a:t>A</a:t>
            </a:r>
            <a:r>
              <a:rPr lang="ko-KR" altLang="en-US" sz="1800" dirty="0">
                <a:latin typeface="Open Sans" panose="020F0502020204030204" pitchFamily="34" charset="0"/>
              </a:rPr>
              <a:t>가 주어졌을 때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ko-KR" altLang="en-US" sz="1800" dirty="0">
                <a:latin typeface="Open Sans" panose="020F0502020204030204" pitchFamily="34" charset="0"/>
              </a:rPr>
              <a:t>그 </a:t>
            </a:r>
            <a:r>
              <a:rPr lang="ko-KR" altLang="en-US" sz="1800" b="1" dirty="0">
                <a:latin typeface="Open Sans" panose="020F0502020204030204" pitchFamily="34" charset="0"/>
              </a:rPr>
              <a:t>수열의 증가하는 부분 수열 중에서 합이 가장 큰 것을 구하는 프로그램을 작성하시오</a:t>
            </a:r>
            <a:r>
              <a:rPr lang="en-US" altLang="ko-KR" sz="1800" b="1" dirty="0"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dirty="0">
              <a:latin typeface="Open Sans" panose="020F0502020204030204" pitchFamily="34" charset="0"/>
            </a:endParaRPr>
          </a:p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예를 들어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ko-KR" altLang="en-US" sz="1800" dirty="0">
                <a:latin typeface="Open Sans" panose="020F0502020204030204" pitchFamily="34" charset="0"/>
              </a:rPr>
              <a:t>수열 </a:t>
            </a:r>
            <a:r>
              <a:rPr lang="en-US" altLang="ko-KR" sz="1800" dirty="0">
                <a:latin typeface="Open Sans" panose="020F0502020204030204" pitchFamily="34" charset="0"/>
              </a:rPr>
              <a:t>A = {1, 100, 2, 50, 60, 3, 5, 6, 7, 8} </a:t>
            </a:r>
            <a:r>
              <a:rPr lang="ko-KR" altLang="en-US" sz="1800" dirty="0">
                <a:latin typeface="Open Sans" panose="020F0502020204030204" pitchFamily="34" charset="0"/>
              </a:rPr>
              <a:t>인 경우에 합이 가장 큰 증가하는 부분 수열은 </a:t>
            </a:r>
            <a:r>
              <a:rPr lang="en-US" altLang="ko-KR" sz="1800" dirty="0">
                <a:latin typeface="Open Sans" panose="020F0502020204030204" pitchFamily="34" charset="0"/>
              </a:rPr>
              <a:t>A = {</a:t>
            </a:r>
            <a:r>
              <a:rPr lang="en-US" altLang="ko-KR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1</a:t>
            </a:r>
            <a:r>
              <a:rPr lang="en-US" altLang="ko-KR" sz="1800" dirty="0">
                <a:latin typeface="Open Sans" panose="020F0502020204030204" pitchFamily="34" charset="0"/>
              </a:rPr>
              <a:t>, 100, </a:t>
            </a:r>
            <a:r>
              <a:rPr lang="en-US" altLang="ko-KR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2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en-US" altLang="ko-KR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50, 60, </a:t>
            </a:r>
            <a:r>
              <a:rPr lang="en-US" altLang="ko-KR" sz="1800" dirty="0">
                <a:latin typeface="Open Sans" panose="020F0502020204030204" pitchFamily="34" charset="0"/>
              </a:rPr>
              <a:t>3, 5, 6, 7, 8} </a:t>
            </a:r>
            <a:r>
              <a:rPr lang="ko-KR" altLang="en-US" sz="1800" dirty="0">
                <a:latin typeface="Open Sans" panose="020F0502020204030204" pitchFamily="34" charset="0"/>
              </a:rPr>
              <a:t>이고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ko-KR" altLang="en-US" sz="1800" dirty="0">
                <a:latin typeface="Open Sans" panose="020F0502020204030204" pitchFamily="34" charset="0"/>
              </a:rPr>
              <a:t>합은 </a:t>
            </a:r>
            <a:r>
              <a:rPr lang="en-US" altLang="ko-KR" sz="1800" b="1" dirty="0">
                <a:solidFill>
                  <a:srgbClr val="0000FF"/>
                </a:solidFill>
                <a:latin typeface="Open Sans" panose="020F0502020204030204" pitchFamily="34" charset="0"/>
              </a:rPr>
              <a:t>113</a:t>
            </a:r>
            <a:r>
              <a:rPr lang="ko-KR" altLang="en-US" sz="1800" dirty="0">
                <a:latin typeface="Open Sans" panose="020F0502020204030204" pitchFamily="34" charset="0"/>
              </a:rPr>
              <a:t>이다</a:t>
            </a:r>
            <a:r>
              <a:rPr lang="en-US" altLang="ko-KR" sz="1800" dirty="0"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dirty="0">
              <a:latin typeface="Open Sans" panose="020F0502020204030204" pitchFamily="34" charset="0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3429000"/>
            <a:ext cx="7711777" cy="164097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47533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F8DE6-BFC4-7515-24A8-A8AC87EFB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63A519-F783-50A8-ED79-D702E6644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868346"/>
          </a:xfrm>
        </p:spPr>
        <p:txBody>
          <a:bodyPr/>
          <a:lstStyle/>
          <a:p>
            <a:r>
              <a:rPr lang="en-US" altLang="ko-KR" sz="2800" dirty="0"/>
              <a:t>9. RGB</a:t>
            </a:r>
            <a:r>
              <a:rPr lang="ko-KR" altLang="en-US" sz="2800" dirty="0"/>
              <a:t>거리 </a:t>
            </a:r>
            <a:r>
              <a:rPr lang="en-US" altLang="ko-KR" sz="2800" dirty="0"/>
              <a:t>(</a:t>
            </a:r>
            <a:r>
              <a:rPr lang="en-US" altLang="ko-KR" sz="2800" dirty="0" err="1"/>
              <a:t>TUKorea</a:t>
            </a:r>
            <a:r>
              <a:rPr lang="en-US" altLang="ko-KR" sz="2800" dirty="0"/>
              <a:t>,</a:t>
            </a:r>
            <a:r>
              <a:rPr lang="ko-KR" altLang="en-US" sz="2800" dirty="0"/>
              <a:t>백준</a:t>
            </a:r>
            <a:r>
              <a:rPr lang="en-US" altLang="ko-KR" sz="2800" dirty="0"/>
              <a:t>1149, DP)</a:t>
            </a:r>
            <a:r>
              <a:rPr lang="en-US" altLang="ko-KR" sz="2400" dirty="0"/>
              <a:t> </a:t>
            </a:r>
            <a:br>
              <a:rPr lang="en-US" altLang="ko-KR" sz="2400" dirty="0"/>
            </a:br>
            <a:r>
              <a:rPr lang="en-US" altLang="ko-KR" sz="1800" dirty="0"/>
              <a:t>http://210.93.60.51/problem/0141</a:t>
            </a:r>
            <a:br>
              <a:rPr lang="en-US" altLang="ko-KR" sz="1800" dirty="0"/>
            </a:br>
            <a:r>
              <a:rPr lang="en-US" altLang="ko-KR" sz="1800" dirty="0"/>
              <a:t>https://www.acmicpc.net/problem/1149</a:t>
            </a:r>
            <a:endParaRPr lang="ko-KR" altLang="en-US" sz="18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DD5EF35-03CF-3E4F-F1EE-1D0130E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16</a:t>
            </a:fld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9E3D03-50DE-7CB9-0A1E-409973ECD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en-US" altLang="ko-KR" sz="1800" dirty="0">
                <a:latin typeface="Open Sans" panose="020F0502020204030204" pitchFamily="34" charset="0"/>
              </a:rPr>
              <a:t>RGB</a:t>
            </a:r>
            <a:r>
              <a:rPr lang="ko-KR" altLang="en-US" sz="1800" dirty="0">
                <a:latin typeface="Open Sans" panose="020F0502020204030204" pitchFamily="34" charset="0"/>
              </a:rPr>
              <a:t>거리에는 집이 </a:t>
            </a:r>
            <a:r>
              <a:rPr lang="en-US" altLang="ko-KR" sz="1800" dirty="0">
                <a:latin typeface="Open Sans" panose="020F0502020204030204" pitchFamily="34" charset="0"/>
              </a:rPr>
              <a:t>1</a:t>
            </a:r>
            <a:r>
              <a:rPr lang="ko-KR" altLang="en-US" sz="1800" dirty="0">
                <a:latin typeface="Open Sans" panose="020F0502020204030204" pitchFamily="34" charset="0"/>
              </a:rPr>
              <a:t>번 집부터 </a:t>
            </a:r>
            <a:r>
              <a:rPr lang="en-US" altLang="ko-KR" sz="1800" dirty="0">
                <a:latin typeface="Open Sans" panose="020F0502020204030204" pitchFamily="34" charset="0"/>
              </a:rPr>
              <a:t>N</a:t>
            </a:r>
            <a:r>
              <a:rPr lang="ko-KR" altLang="en-US" sz="1800" dirty="0">
                <a:latin typeface="Open Sans" panose="020F0502020204030204" pitchFamily="34" charset="0"/>
              </a:rPr>
              <a:t>번 집이 순서대로 있다</a:t>
            </a:r>
            <a:r>
              <a:rPr lang="en-US" altLang="ko-KR" sz="1800" dirty="0"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dirty="0">
              <a:latin typeface="Open Sans" panose="020F0502020204030204" pitchFamily="34" charset="0"/>
            </a:endParaRPr>
          </a:p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집은 빨강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ko-KR" altLang="en-US" sz="1800" dirty="0">
                <a:latin typeface="Open Sans" panose="020F0502020204030204" pitchFamily="34" charset="0"/>
              </a:rPr>
              <a:t>초록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ko-KR" altLang="en-US" sz="1800" dirty="0">
                <a:latin typeface="Open Sans" panose="020F0502020204030204" pitchFamily="34" charset="0"/>
              </a:rPr>
              <a:t>파랑 중 하나의 색으로 칠해야 한다</a:t>
            </a:r>
            <a:r>
              <a:rPr lang="en-US" altLang="ko-KR" sz="1800" dirty="0">
                <a:latin typeface="Open Sans" panose="020F0502020204030204" pitchFamily="34" charset="0"/>
              </a:rPr>
              <a:t>. </a:t>
            </a:r>
            <a:r>
              <a:rPr lang="ko-KR" altLang="en-US" sz="1800" dirty="0">
                <a:latin typeface="Open Sans" panose="020F0502020204030204" pitchFamily="34" charset="0"/>
              </a:rPr>
              <a:t>아래 규칙을 만족하면서 모든 집을 칠하는 비용의 최솟값을 구해보자</a:t>
            </a:r>
            <a:r>
              <a:rPr lang="en-US" altLang="ko-KR" sz="1800" dirty="0"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dirty="0">
              <a:latin typeface="Open Sans" panose="020F0502020204030204" pitchFamily="34" charset="0"/>
            </a:endParaRPr>
          </a:p>
          <a:p>
            <a:pPr algn="just"/>
            <a:r>
              <a:rPr lang="en-US" altLang="ko-KR" sz="1800" b="1" dirty="0" err="1">
                <a:latin typeface="Open Sans" panose="020F0502020204030204" pitchFamily="34" charset="0"/>
              </a:rPr>
              <a:t>i</a:t>
            </a:r>
            <a:r>
              <a:rPr lang="en-US" altLang="ko-KR" sz="1800" b="1" dirty="0">
                <a:latin typeface="Open Sans" panose="020F0502020204030204" pitchFamily="34" charset="0"/>
              </a:rPr>
              <a:t>(2 ≤ </a:t>
            </a:r>
            <a:r>
              <a:rPr lang="en-US" altLang="ko-KR" sz="1800" b="1" dirty="0" err="1">
                <a:latin typeface="Open Sans" panose="020F0502020204030204" pitchFamily="34" charset="0"/>
              </a:rPr>
              <a:t>i</a:t>
            </a:r>
            <a:r>
              <a:rPr lang="en-US" altLang="ko-KR" sz="1800" b="1" dirty="0">
                <a:latin typeface="Open Sans" panose="020F0502020204030204" pitchFamily="34" charset="0"/>
              </a:rPr>
              <a:t> ≤ N-1)</a:t>
            </a:r>
            <a:r>
              <a:rPr lang="ko-KR" altLang="en-US" sz="1800" b="1" dirty="0">
                <a:latin typeface="Open Sans" panose="020F0502020204030204" pitchFamily="34" charset="0"/>
              </a:rPr>
              <a:t>번 집의 색은 </a:t>
            </a:r>
            <a:r>
              <a:rPr lang="en-US" altLang="ko-KR" sz="1800" b="1" dirty="0">
                <a:latin typeface="Open Sans" panose="020F0502020204030204" pitchFamily="34" charset="0"/>
              </a:rPr>
              <a:t>i-1</a:t>
            </a:r>
            <a:r>
              <a:rPr lang="ko-KR" altLang="en-US" sz="1800" b="1" dirty="0">
                <a:latin typeface="Open Sans" panose="020F0502020204030204" pitchFamily="34" charset="0"/>
              </a:rPr>
              <a:t>번</a:t>
            </a:r>
            <a:r>
              <a:rPr lang="en-US" altLang="ko-KR" sz="1800" b="1" dirty="0">
                <a:latin typeface="Open Sans" panose="020F0502020204030204" pitchFamily="34" charset="0"/>
              </a:rPr>
              <a:t>, i+1</a:t>
            </a:r>
            <a:r>
              <a:rPr lang="ko-KR" altLang="en-US" sz="1800" b="1" dirty="0">
                <a:latin typeface="Open Sans" panose="020F0502020204030204" pitchFamily="34" charset="0"/>
              </a:rPr>
              <a:t>번 집의 색과 같지 않아야 한다</a:t>
            </a:r>
            <a:r>
              <a:rPr lang="en-US" altLang="ko-KR" sz="1800" b="1" dirty="0"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b="1" dirty="0">
              <a:latin typeface="Open Sans" panose="020F0502020204030204" pitchFamily="34" charset="0"/>
            </a:endParaRPr>
          </a:p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첫째 줄에 집의 수 </a:t>
            </a:r>
            <a:r>
              <a:rPr lang="en-US" altLang="ko-KR" sz="1800" dirty="0">
                <a:latin typeface="Open Sans" panose="020F0502020204030204" pitchFamily="34" charset="0"/>
              </a:rPr>
              <a:t>N(2 ≤ N ≤ 1,000)</a:t>
            </a:r>
            <a:r>
              <a:rPr lang="ko-KR" altLang="en-US" sz="1800" dirty="0">
                <a:latin typeface="Open Sans" panose="020F0502020204030204" pitchFamily="34" charset="0"/>
              </a:rPr>
              <a:t>이 주어진다</a:t>
            </a:r>
            <a:r>
              <a:rPr lang="en-US" altLang="ko-KR" sz="1800" dirty="0">
                <a:latin typeface="Open Sans" panose="020F0502020204030204" pitchFamily="34" charset="0"/>
              </a:rPr>
              <a:t>. </a:t>
            </a:r>
            <a:r>
              <a:rPr lang="ko-KR" altLang="en-US" sz="1800" dirty="0">
                <a:latin typeface="Open Sans" panose="020F0502020204030204" pitchFamily="34" charset="0"/>
              </a:rPr>
              <a:t>둘째 줄부터 </a:t>
            </a:r>
            <a:r>
              <a:rPr lang="en-US" altLang="ko-KR" sz="1800" dirty="0">
                <a:latin typeface="Open Sans" panose="020F0502020204030204" pitchFamily="34" charset="0"/>
              </a:rPr>
              <a:t>N</a:t>
            </a:r>
            <a:r>
              <a:rPr lang="ko-KR" altLang="en-US" sz="1800" dirty="0">
                <a:latin typeface="Open Sans" panose="020F0502020204030204" pitchFamily="34" charset="0"/>
              </a:rPr>
              <a:t>개의 줄에는 각 집을 빨강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ko-KR" altLang="en-US" sz="1800" dirty="0">
                <a:latin typeface="Open Sans" panose="020F0502020204030204" pitchFamily="34" charset="0"/>
              </a:rPr>
              <a:t>초록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ko-KR" altLang="en-US" sz="1800" dirty="0">
                <a:latin typeface="Open Sans" panose="020F0502020204030204" pitchFamily="34" charset="0"/>
              </a:rPr>
              <a:t>파랑으로 칠하는 비용이 </a:t>
            </a:r>
            <a:r>
              <a:rPr lang="en-US" altLang="ko-KR" sz="1800" dirty="0">
                <a:latin typeface="Open Sans" panose="020F0502020204030204" pitchFamily="34" charset="0"/>
              </a:rPr>
              <a:t>1</a:t>
            </a:r>
            <a:r>
              <a:rPr lang="ko-KR" altLang="en-US" sz="1800" dirty="0">
                <a:latin typeface="Open Sans" panose="020F0502020204030204" pitchFamily="34" charset="0"/>
              </a:rPr>
              <a:t>번 집부터 한 줄에 하나씩 주어진다</a:t>
            </a:r>
            <a:r>
              <a:rPr lang="en-US" altLang="ko-KR" sz="1800" dirty="0">
                <a:latin typeface="Open Sans" panose="020F0502020204030204" pitchFamily="34" charset="0"/>
              </a:rPr>
              <a:t>.</a:t>
            </a:r>
          </a:p>
          <a:p>
            <a:pPr marL="0" indent="0" algn="just">
              <a:buNone/>
            </a:pPr>
            <a:endParaRPr lang="en-US" altLang="ko-KR" sz="1800" dirty="0">
              <a:latin typeface="Open Sans" panose="020F0502020204030204" pitchFamily="34" charset="0"/>
            </a:endParaRPr>
          </a:p>
          <a:p>
            <a:pPr algn="just"/>
            <a:endParaRPr lang="en-US" altLang="ko-KR" sz="1800" dirty="0">
              <a:latin typeface="Open Sans" panose="020F0502020204030204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D63AAAA-9140-84C1-1554-069F1D551E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908" y="4656504"/>
            <a:ext cx="6228184" cy="1721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514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풍요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4791</TotalTime>
  <Words>1177</Words>
  <Application>Microsoft Office PowerPoint</Application>
  <PresentationFormat>화면 슬라이드 쇼(4:3)</PresentationFormat>
  <Paragraphs>115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3" baseType="lpstr">
      <vt:lpstr>Helvetica Neue</vt:lpstr>
      <vt:lpstr>굴림</vt:lpstr>
      <vt:lpstr>malgun gothic</vt:lpstr>
      <vt:lpstr>malgun gothic</vt:lpstr>
      <vt:lpstr>Arial</vt:lpstr>
      <vt:lpstr>Open Sans</vt:lpstr>
      <vt:lpstr>Office 테마</vt:lpstr>
      <vt:lpstr>숙제6. 다이나믹 프로그래밍</vt:lpstr>
      <vt:lpstr>백준 온라인저지  https://www.acmicpc.net/</vt:lpstr>
      <vt:lpstr>TUKorea 온라인저지  http://210.93.60.51/</vt:lpstr>
      <vt:lpstr>Programmers https://school.programmers.co.kr/</vt:lpstr>
      <vt:lpstr>1. 정수삼각형 (Programmers, DP)</vt:lpstr>
      <vt:lpstr>1. 정수삼각형 (Programmers, DP)</vt:lpstr>
      <vt:lpstr>2. 등굣길(Programmers, DP)</vt:lpstr>
      <vt:lpstr>2. 등굣길(Programmers, DP)</vt:lpstr>
      <vt:lpstr>3. 베스트 앨범 (Programmers, 구현)  https://school.programmers.co.kr/learn/courses/30/lessons/42579</vt:lpstr>
      <vt:lpstr>4. 신고결과받기 (Programmers, 구현)  https://school.programmers.co.kr/learn/courses/30/lessons/92334</vt:lpstr>
      <vt:lpstr>4. 신고결과받기 (Programmers, 구현)  https://school.programmers.co.kr/learn/courses/30/lessons/92334</vt:lpstr>
      <vt:lpstr>5. 설탕배달 (TUKorea, 백준2839, DP)  http://210.93.60.51/problem/0182 https://www.acmicpc.net/problem/2839</vt:lpstr>
      <vt:lpstr>6. 1로 만들기 (TUKorea, 백준1463, DP)  http://210.93.60.51/problem/0183 https://www.acmicpc.net/problem/1463</vt:lpstr>
      <vt:lpstr>7. 내려가기 (TUKorea, 백준2096, DP)  http://210.93.60.51/problem/0184 https://www.acmicpc.net/problem/2096</vt:lpstr>
      <vt:lpstr>8. 가장 큰 증가하는 부분 수열 (TUKorea,백준11055,DP)  http://210.93.60.51/problem/0185 https://www.acmicpc.net/problem/11055</vt:lpstr>
      <vt:lpstr>9. RGB거리 (TUKorea,백준1149, DP)  http://210.93.60.51/problem/0141 https://www.acmicpc.net/problem/1149</vt:lpstr>
    </vt:vector>
  </TitlesOfParts>
  <Company>kpu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STL</dc:title>
  <dc:creator>kys</dc:creator>
  <cp:lastModifiedBy>C221-01</cp:lastModifiedBy>
  <cp:revision>263</cp:revision>
  <cp:lastPrinted>2023-07-23T09:30:34Z</cp:lastPrinted>
  <dcterms:created xsi:type="dcterms:W3CDTF">2008-03-02T04:39:19Z</dcterms:created>
  <dcterms:modified xsi:type="dcterms:W3CDTF">2026-04-29T02:22:55Z</dcterms:modified>
</cp:coreProperties>
</file>